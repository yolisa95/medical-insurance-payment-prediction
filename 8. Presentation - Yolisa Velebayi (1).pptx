
<file path=[Content_Types].xml><?xml version="1.0" encoding="utf-8"?>
<Types xmlns="http://schemas.openxmlformats.org/package/2006/content-types">
  <Default Extension="png" ContentType="image/png"/>
  <Default Extension="svg" ContentType="image/svg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57" r:id="rId1"/>
  </p:sldMasterIdLst>
  <p:notesMasterIdLst>
    <p:notesMasterId r:id="rId21"/>
  </p:notesMasterIdLst>
  <p:sldIdLst>
    <p:sldId id="256" r:id="rId2"/>
    <p:sldId id="258" r:id="rId3"/>
    <p:sldId id="270" r:id="rId4"/>
    <p:sldId id="260" r:id="rId5"/>
    <p:sldId id="261" r:id="rId6"/>
    <p:sldId id="277" r:id="rId7"/>
    <p:sldId id="268" r:id="rId8"/>
    <p:sldId id="269" r:id="rId9"/>
    <p:sldId id="264" r:id="rId10"/>
    <p:sldId id="263" r:id="rId11"/>
    <p:sldId id="271" r:id="rId12"/>
    <p:sldId id="272" r:id="rId13"/>
    <p:sldId id="274" r:id="rId14"/>
    <p:sldId id="273" r:id="rId15"/>
    <p:sldId id="275" r:id="rId16"/>
    <p:sldId id="276" r:id="rId17"/>
    <p:sldId id="265" r:id="rId18"/>
    <p:sldId id="266" r:id="rId19"/>
    <p:sldId id="267" r:id="rId20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CCEC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6308" autoAdjust="0"/>
    <p:restoredTop sz="61939" autoAdjust="0"/>
  </p:normalViewPr>
  <p:slideViewPr>
    <p:cSldViewPr snapToGrid="0">
      <p:cViewPr varScale="1">
        <p:scale>
          <a:sx n="51" d="100"/>
          <a:sy n="51" d="100"/>
        </p:scale>
        <p:origin x="1363" y="5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AC9362DB-3CF8-F148-AA21-3B99B18CC16F}" type="doc">
      <dgm:prSet loTypeId="urn:microsoft.com/office/officeart/2005/8/layout/hChevron3" loCatId="" qsTypeId="urn:microsoft.com/office/officeart/2005/8/quickstyle/simple1" qsCatId="simple" csTypeId="urn:microsoft.com/office/officeart/2005/8/colors/colorful1" csCatId="colorful" phldr="1"/>
      <dgm:spPr/>
      <dgm:t>
        <a:bodyPr/>
        <a:lstStyle/>
        <a:p>
          <a:endParaRPr lang="en-US"/>
        </a:p>
      </dgm:t>
    </dgm:pt>
    <dgm:pt modelId="{AD03BE2C-30F8-B242-B9C7-6DCB2A2C3B44}">
      <dgm:prSet phldrT="[Text]" custT="1"/>
      <dgm:spPr/>
      <dgm:t>
        <a:bodyPr/>
        <a:lstStyle/>
        <a:p>
          <a:pPr>
            <a:buFont typeface="+mj-lt"/>
            <a:buAutoNum type="arabicPeriod"/>
          </a:pPr>
          <a:r>
            <a:rPr lang="en-ZA" sz="1000" b="0" dirty="0"/>
            <a:t>Business Question and Research Objectives</a:t>
          </a:r>
          <a:endParaRPr lang="en-US" sz="1000" b="0" dirty="0"/>
        </a:p>
      </dgm:t>
    </dgm:pt>
    <dgm:pt modelId="{11DCD275-86F5-284B-A8E4-ADBA2E71DA66}" type="parTrans" cxnId="{2343BFD1-521F-C647-A48F-5ED8F4D1BE30}">
      <dgm:prSet/>
      <dgm:spPr/>
      <dgm:t>
        <a:bodyPr/>
        <a:lstStyle/>
        <a:p>
          <a:endParaRPr lang="en-US"/>
        </a:p>
      </dgm:t>
    </dgm:pt>
    <dgm:pt modelId="{1C695E96-A284-FE40-BDD6-0C2FD356A3E5}" type="sibTrans" cxnId="{2343BFD1-521F-C647-A48F-5ED8F4D1BE30}">
      <dgm:prSet/>
      <dgm:spPr/>
      <dgm:t>
        <a:bodyPr/>
        <a:lstStyle/>
        <a:p>
          <a:endParaRPr lang="en-US"/>
        </a:p>
      </dgm:t>
    </dgm:pt>
    <dgm:pt modelId="{593CBA6E-0624-F846-9A53-DCB5B1200504}">
      <dgm:prSet custT="1"/>
      <dgm:spPr/>
      <dgm:t>
        <a:bodyPr/>
        <a:lstStyle/>
        <a:p>
          <a:r>
            <a:rPr lang="en-ZA" sz="1000" b="0" dirty="0"/>
            <a:t>Business Problem and Project Outcomes</a:t>
          </a:r>
        </a:p>
      </dgm:t>
    </dgm:pt>
    <dgm:pt modelId="{1A41E5F5-A676-5246-9F38-967F3655C310}" type="parTrans" cxnId="{528EAC74-A692-DA4C-A958-1C49CA849B75}">
      <dgm:prSet/>
      <dgm:spPr/>
      <dgm:t>
        <a:bodyPr/>
        <a:lstStyle/>
        <a:p>
          <a:endParaRPr lang="en-US"/>
        </a:p>
      </dgm:t>
    </dgm:pt>
    <dgm:pt modelId="{1DBC9F12-22C1-4642-90E9-C55BAE7C738F}" type="sibTrans" cxnId="{528EAC74-A692-DA4C-A958-1C49CA849B75}">
      <dgm:prSet/>
      <dgm:spPr/>
      <dgm:t>
        <a:bodyPr/>
        <a:lstStyle/>
        <a:p>
          <a:endParaRPr lang="en-US"/>
        </a:p>
      </dgm:t>
    </dgm:pt>
    <dgm:pt modelId="{0C593FA5-45EC-8D4F-BE5E-EE3590818EAC}">
      <dgm:prSet custT="1"/>
      <dgm:spPr/>
      <dgm:t>
        <a:bodyPr/>
        <a:lstStyle/>
        <a:p>
          <a:r>
            <a:rPr lang="en-ZA" sz="1000" b="0" dirty="0"/>
            <a:t>Literature Review</a:t>
          </a:r>
        </a:p>
      </dgm:t>
    </dgm:pt>
    <dgm:pt modelId="{05539F9B-8EEC-994E-86DD-FADC2D8FB1B1}" type="parTrans" cxnId="{36D798FD-EA3A-5843-ADE2-9C34B056D0B0}">
      <dgm:prSet/>
      <dgm:spPr/>
      <dgm:t>
        <a:bodyPr/>
        <a:lstStyle/>
        <a:p>
          <a:endParaRPr lang="en-US"/>
        </a:p>
      </dgm:t>
    </dgm:pt>
    <dgm:pt modelId="{B61B6CAA-C2DA-D34A-9A5F-629387B3D7D2}" type="sibTrans" cxnId="{36D798FD-EA3A-5843-ADE2-9C34B056D0B0}">
      <dgm:prSet/>
      <dgm:spPr/>
      <dgm:t>
        <a:bodyPr/>
        <a:lstStyle/>
        <a:p>
          <a:endParaRPr lang="en-US"/>
        </a:p>
      </dgm:t>
    </dgm:pt>
    <dgm:pt modelId="{1EB1F265-5D57-4F42-878F-A8C9F27787BC}">
      <dgm:prSet custT="1"/>
      <dgm:spPr/>
      <dgm:t>
        <a:bodyPr/>
        <a:lstStyle/>
        <a:p>
          <a:r>
            <a:rPr lang="en-ZA" sz="1000" b="0" dirty="0"/>
            <a:t>Research Methodology &amp; Workflow</a:t>
          </a:r>
        </a:p>
      </dgm:t>
    </dgm:pt>
    <dgm:pt modelId="{3E3DDB6C-E3FA-D140-9F0E-1195529135F0}" type="parTrans" cxnId="{C39DD323-6BAD-8D44-B081-45326EE8AE37}">
      <dgm:prSet/>
      <dgm:spPr/>
      <dgm:t>
        <a:bodyPr/>
        <a:lstStyle/>
        <a:p>
          <a:endParaRPr lang="en-US"/>
        </a:p>
      </dgm:t>
    </dgm:pt>
    <dgm:pt modelId="{B4355C63-24A3-5548-A152-544E8DF8D5FE}" type="sibTrans" cxnId="{C39DD323-6BAD-8D44-B081-45326EE8AE37}">
      <dgm:prSet/>
      <dgm:spPr/>
      <dgm:t>
        <a:bodyPr/>
        <a:lstStyle/>
        <a:p>
          <a:endParaRPr lang="en-US"/>
        </a:p>
      </dgm:t>
    </dgm:pt>
    <dgm:pt modelId="{037CC32D-97A1-CB44-B443-4101542FF80C}">
      <dgm:prSet custT="1"/>
      <dgm:spPr/>
      <dgm:t>
        <a:bodyPr/>
        <a:lstStyle/>
        <a:p>
          <a:r>
            <a:rPr lang="en-ZA" sz="1000" b="0" dirty="0"/>
            <a:t>Phases of Research Project</a:t>
          </a:r>
        </a:p>
      </dgm:t>
    </dgm:pt>
    <dgm:pt modelId="{9D694AD2-E1BA-0446-9BB5-825F94C09D83}" type="parTrans" cxnId="{D6DCDC64-75F0-FE48-9A8C-08FF9084A9FD}">
      <dgm:prSet/>
      <dgm:spPr/>
      <dgm:t>
        <a:bodyPr/>
        <a:lstStyle/>
        <a:p>
          <a:endParaRPr lang="en-US"/>
        </a:p>
      </dgm:t>
    </dgm:pt>
    <dgm:pt modelId="{0BA36609-EF34-DB47-B502-20834319B0D4}" type="sibTrans" cxnId="{D6DCDC64-75F0-FE48-9A8C-08FF9084A9FD}">
      <dgm:prSet/>
      <dgm:spPr/>
      <dgm:t>
        <a:bodyPr/>
        <a:lstStyle/>
        <a:p>
          <a:endParaRPr lang="en-US"/>
        </a:p>
      </dgm:t>
    </dgm:pt>
    <dgm:pt modelId="{7C4C97AB-6199-874E-91E6-CD9054496098}">
      <dgm:prSet custT="1"/>
      <dgm:spPr/>
      <dgm:t>
        <a:bodyPr/>
        <a:lstStyle/>
        <a:p>
          <a:r>
            <a:rPr lang="en-ZA" sz="1000" b="0"/>
            <a:t>Research Intelligence </a:t>
          </a:r>
          <a:endParaRPr lang="en-ZA" sz="1000" b="0" dirty="0"/>
        </a:p>
      </dgm:t>
    </dgm:pt>
    <dgm:pt modelId="{F3AC9979-7616-7641-A8B5-16C4AB22FC4D}" type="parTrans" cxnId="{529B7191-F809-594F-A91A-A7F98781AA49}">
      <dgm:prSet/>
      <dgm:spPr/>
      <dgm:t>
        <a:bodyPr/>
        <a:lstStyle/>
        <a:p>
          <a:endParaRPr lang="en-US"/>
        </a:p>
      </dgm:t>
    </dgm:pt>
    <dgm:pt modelId="{4553CB4E-7B4C-E64D-8759-E82752C645CA}" type="sibTrans" cxnId="{529B7191-F809-594F-A91A-A7F98781AA49}">
      <dgm:prSet/>
      <dgm:spPr/>
      <dgm:t>
        <a:bodyPr/>
        <a:lstStyle/>
        <a:p>
          <a:endParaRPr lang="en-US"/>
        </a:p>
      </dgm:t>
    </dgm:pt>
    <dgm:pt modelId="{336FB308-56F2-264A-B03B-AED0A116E238}">
      <dgm:prSet custT="1"/>
      <dgm:spPr/>
      <dgm:t>
        <a:bodyPr/>
        <a:lstStyle/>
        <a:p>
          <a:r>
            <a:rPr lang="en-ZA" sz="1000" b="0" dirty="0"/>
            <a:t>Research Analytics</a:t>
          </a:r>
        </a:p>
      </dgm:t>
    </dgm:pt>
    <dgm:pt modelId="{A9BEE4CF-008F-8647-9A50-5B5C0DEE9010}" type="parTrans" cxnId="{0AE8D7E4-4185-E24D-86D2-B6D09E3F1B61}">
      <dgm:prSet/>
      <dgm:spPr/>
      <dgm:t>
        <a:bodyPr/>
        <a:lstStyle/>
        <a:p>
          <a:endParaRPr lang="en-US"/>
        </a:p>
      </dgm:t>
    </dgm:pt>
    <dgm:pt modelId="{1B4F43D9-B15F-7E48-A651-C28A6648F7B8}" type="sibTrans" cxnId="{0AE8D7E4-4185-E24D-86D2-B6D09E3F1B61}">
      <dgm:prSet/>
      <dgm:spPr/>
      <dgm:t>
        <a:bodyPr/>
        <a:lstStyle/>
        <a:p>
          <a:endParaRPr lang="en-US"/>
        </a:p>
      </dgm:t>
    </dgm:pt>
    <dgm:pt modelId="{726EFAF5-FA29-D24C-BC3E-D23CC8C9F01F}">
      <dgm:prSet custT="1"/>
      <dgm:spPr/>
      <dgm:t>
        <a:bodyPr/>
        <a:lstStyle/>
        <a:p>
          <a:r>
            <a:rPr lang="en-ZA" sz="1000" b="0" dirty="0"/>
            <a:t>Research Insights</a:t>
          </a:r>
          <a:endParaRPr lang="en-ZA" sz="800" b="0" dirty="0"/>
        </a:p>
      </dgm:t>
    </dgm:pt>
    <dgm:pt modelId="{99204E89-FFCA-BD4B-AAB5-15CFB64ABA09}" type="parTrans" cxnId="{2AECA9A6-EBF9-3741-9920-697C19BD6236}">
      <dgm:prSet/>
      <dgm:spPr/>
      <dgm:t>
        <a:bodyPr/>
        <a:lstStyle/>
        <a:p>
          <a:endParaRPr lang="en-US"/>
        </a:p>
      </dgm:t>
    </dgm:pt>
    <dgm:pt modelId="{24175AE4-9004-3447-AFC7-9DAAD128B476}" type="sibTrans" cxnId="{2AECA9A6-EBF9-3741-9920-697C19BD6236}">
      <dgm:prSet/>
      <dgm:spPr/>
      <dgm:t>
        <a:bodyPr/>
        <a:lstStyle/>
        <a:p>
          <a:endParaRPr lang="en-US"/>
        </a:p>
      </dgm:t>
    </dgm:pt>
    <dgm:pt modelId="{C0438588-03B4-574E-A9CB-0ED6D0CBAA85}" type="pres">
      <dgm:prSet presAssocID="{AC9362DB-3CF8-F148-AA21-3B99B18CC16F}" presName="Name0" presStyleCnt="0">
        <dgm:presLayoutVars>
          <dgm:dir/>
          <dgm:resizeHandles val="exact"/>
        </dgm:presLayoutVars>
      </dgm:prSet>
      <dgm:spPr/>
    </dgm:pt>
    <dgm:pt modelId="{C9D4F54B-5EB7-DC46-B62B-C411FE67A1FE}" type="pres">
      <dgm:prSet presAssocID="{AD03BE2C-30F8-B242-B9C7-6DCB2A2C3B44}" presName="parTxOnly" presStyleLbl="node1" presStyleIdx="0" presStyleCnt="8">
        <dgm:presLayoutVars>
          <dgm:bulletEnabled val="1"/>
        </dgm:presLayoutVars>
      </dgm:prSet>
      <dgm:spPr/>
    </dgm:pt>
    <dgm:pt modelId="{CDBBC255-3993-1643-AA69-D2F17975655F}" type="pres">
      <dgm:prSet presAssocID="{1C695E96-A284-FE40-BDD6-0C2FD356A3E5}" presName="parSpace" presStyleCnt="0"/>
      <dgm:spPr/>
    </dgm:pt>
    <dgm:pt modelId="{E294DDD8-1803-F442-B88A-192CEDAB7CBE}" type="pres">
      <dgm:prSet presAssocID="{593CBA6E-0624-F846-9A53-DCB5B1200504}" presName="parTxOnly" presStyleLbl="node1" presStyleIdx="1" presStyleCnt="8">
        <dgm:presLayoutVars>
          <dgm:bulletEnabled val="1"/>
        </dgm:presLayoutVars>
      </dgm:prSet>
      <dgm:spPr/>
    </dgm:pt>
    <dgm:pt modelId="{6802859A-F5C7-854F-91D1-5B4D56F162A8}" type="pres">
      <dgm:prSet presAssocID="{1DBC9F12-22C1-4642-90E9-C55BAE7C738F}" presName="parSpace" presStyleCnt="0"/>
      <dgm:spPr/>
    </dgm:pt>
    <dgm:pt modelId="{71B9572F-674F-A642-A720-7960D18CE7F1}" type="pres">
      <dgm:prSet presAssocID="{0C593FA5-45EC-8D4F-BE5E-EE3590818EAC}" presName="parTxOnly" presStyleLbl="node1" presStyleIdx="2" presStyleCnt="8">
        <dgm:presLayoutVars>
          <dgm:bulletEnabled val="1"/>
        </dgm:presLayoutVars>
      </dgm:prSet>
      <dgm:spPr/>
    </dgm:pt>
    <dgm:pt modelId="{C8106251-025E-2441-B7F3-630AB19627B5}" type="pres">
      <dgm:prSet presAssocID="{B61B6CAA-C2DA-D34A-9A5F-629387B3D7D2}" presName="parSpace" presStyleCnt="0"/>
      <dgm:spPr/>
    </dgm:pt>
    <dgm:pt modelId="{1F1F273E-3A45-794A-B6BC-8E25B705B334}" type="pres">
      <dgm:prSet presAssocID="{1EB1F265-5D57-4F42-878F-A8C9F27787BC}" presName="parTxOnly" presStyleLbl="node1" presStyleIdx="3" presStyleCnt="8">
        <dgm:presLayoutVars>
          <dgm:bulletEnabled val="1"/>
        </dgm:presLayoutVars>
      </dgm:prSet>
      <dgm:spPr/>
    </dgm:pt>
    <dgm:pt modelId="{B6BBF290-07BF-454F-963B-6D856C279C06}" type="pres">
      <dgm:prSet presAssocID="{B4355C63-24A3-5548-A152-544E8DF8D5FE}" presName="parSpace" presStyleCnt="0"/>
      <dgm:spPr/>
    </dgm:pt>
    <dgm:pt modelId="{EE8E5195-8882-1D47-8A0F-A0272F57E226}" type="pres">
      <dgm:prSet presAssocID="{037CC32D-97A1-CB44-B443-4101542FF80C}" presName="parTxOnly" presStyleLbl="node1" presStyleIdx="4" presStyleCnt="8">
        <dgm:presLayoutVars>
          <dgm:bulletEnabled val="1"/>
        </dgm:presLayoutVars>
      </dgm:prSet>
      <dgm:spPr/>
    </dgm:pt>
    <dgm:pt modelId="{0D34C340-3749-584D-8924-AF80BE6671FE}" type="pres">
      <dgm:prSet presAssocID="{0BA36609-EF34-DB47-B502-20834319B0D4}" presName="parSpace" presStyleCnt="0"/>
      <dgm:spPr/>
    </dgm:pt>
    <dgm:pt modelId="{8923F60C-9B8D-1043-B1D4-EAD9BE5CC806}" type="pres">
      <dgm:prSet presAssocID="{7C4C97AB-6199-874E-91E6-CD9054496098}" presName="parTxOnly" presStyleLbl="node1" presStyleIdx="5" presStyleCnt="8">
        <dgm:presLayoutVars>
          <dgm:bulletEnabled val="1"/>
        </dgm:presLayoutVars>
      </dgm:prSet>
      <dgm:spPr/>
    </dgm:pt>
    <dgm:pt modelId="{F5FE3BB4-EC27-5640-9D1A-CF0E4AEF08CD}" type="pres">
      <dgm:prSet presAssocID="{4553CB4E-7B4C-E64D-8759-E82752C645CA}" presName="parSpace" presStyleCnt="0"/>
      <dgm:spPr/>
    </dgm:pt>
    <dgm:pt modelId="{4DB55CD1-E300-CB44-B9FB-F51118F2DDAD}" type="pres">
      <dgm:prSet presAssocID="{336FB308-56F2-264A-B03B-AED0A116E238}" presName="parTxOnly" presStyleLbl="node1" presStyleIdx="6" presStyleCnt="8">
        <dgm:presLayoutVars>
          <dgm:bulletEnabled val="1"/>
        </dgm:presLayoutVars>
      </dgm:prSet>
      <dgm:spPr/>
    </dgm:pt>
    <dgm:pt modelId="{9AF35E61-7459-9645-8B11-C6D2121BF19D}" type="pres">
      <dgm:prSet presAssocID="{1B4F43D9-B15F-7E48-A651-C28A6648F7B8}" presName="parSpace" presStyleCnt="0"/>
      <dgm:spPr/>
    </dgm:pt>
    <dgm:pt modelId="{15937552-7AA6-D141-804E-180DC070C24F}" type="pres">
      <dgm:prSet presAssocID="{726EFAF5-FA29-D24C-BC3E-D23CC8C9F01F}" presName="parTxOnly" presStyleLbl="node1" presStyleIdx="7" presStyleCnt="8">
        <dgm:presLayoutVars>
          <dgm:bulletEnabled val="1"/>
        </dgm:presLayoutVars>
      </dgm:prSet>
      <dgm:spPr/>
    </dgm:pt>
  </dgm:ptLst>
  <dgm:cxnLst>
    <dgm:cxn modelId="{6B17EA17-8F0F-4745-80DC-DD1165E8B15F}" type="presOf" srcId="{037CC32D-97A1-CB44-B443-4101542FF80C}" destId="{EE8E5195-8882-1D47-8A0F-A0272F57E226}" srcOrd="0" destOrd="0" presId="urn:microsoft.com/office/officeart/2005/8/layout/hChevron3"/>
    <dgm:cxn modelId="{8220651B-40D6-462B-B98E-8A47E2DF417D}" type="presOf" srcId="{593CBA6E-0624-F846-9A53-DCB5B1200504}" destId="{E294DDD8-1803-F442-B88A-192CEDAB7CBE}" srcOrd="0" destOrd="0" presId="urn:microsoft.com/office/officeart/2005/8/layout/hChevron3"/>
    <dgm:cxn modelId="{C39DD323-6BAD-8D44-B081-45326EE8AE37}" srcId="{AC9362DB-3CF8-F148-AA21-3B99B18CC16F}" destId="{1EB1F265-5D57-4F42-878F-A8C9F27787BC}" srcOrd="3" destOrd="0" parTransId="{3E3DDB6C-E3FA-D140-9F0E-1195529135F0}" sibTransId="{B4355C63-24A3-5548-A152-544E8DF8D5FE}"/>
    <dgm:cxn modelId="{8F570231-2F47-4F8F-B634-0D9785C8B1E2}" type="presOf" srcId="{1EB1F265-5D57-4F42-878F-A8C9F27787BC}" destId="{1F1F273E-3A45-794A-B6BC-8E25B705B334}" srcOrd="0" destOrd="0" presId="urn:microsoft.com/office/officeart/2005/8/layout/hChevron3"/>
    <dgm:cxn modelId="{D6DCDC64-75F0-FE48-9A8C-08FF9084A9FD}" srcId="{AC9362DB-3CF8-F148-AA21-3B99B18CC16F}" destId="{037CC32D-97A1-CB44-B443-4101542FF80C}" srcOrd="4" destOrd="0" parTransId="{9D694AD2-E1BA-0446-9BB5-825F94C09D83}" sibTransId="{0BA36609-EF34-DB47-B502-20834319B0D4}"/>
    <dgm:cxn modelId="{528EAC74-A692-DA4C-A958-1C49CA849B75}" srcId="{AC9362DB-3CF8-F148-AA21-3B99B18CC16F}" destId="{593CBA6E-0624-F846-9A53-DCB5B1200504}" srcOrd="1" destOrd="0" parTransId="{1A41E5F5-A676-5246-9F38-967F3655C310}" sibTransId="{1DBC9F12-22C1-4642-90E9-C55BAE7C738F}"/>
    <dgm:cxn modelId="{27AB4289-FD8A-4768-B3C6-78C1560BCB5C}" type="presOf" srcId="{7C4C97AB-6199-874E-91E6-CD9054496098}" destId="{8923F60C-9B8D-1043-B1D4-EAD9BE5CC806}" srcOrd="0" destOrd="0" presId="urn:microsoft.com/office/officeart/2005/8/layout/hChevron3"/>
    <dgm:cxn modelId="{529B7191-F809-594F-A91A-A7F98781AA49}" srcId="{AC9362DB-3CF8-F148-AA21-3B99B18CC16F}" destId="{7C4C97AB-6199-874E-91E6-CD9054496098}" srcOrd="5" destOrd="0" parTransId="{F3AC9979-7616-7641-A8B5-16C4AB22FC4D}" sibTransId="{4553CB4E-7B4C-E64D-8759-E82752C645CA}"/>
    <dgm:cxn modelId="{E9C96294-C6E9-4705-8CC4-1A25BA0BFD48}" type="presOf" srcId="{0C593FA5-45EC-8D4F-BE5E-EE3590818EAC}" destId="{71B9572F-674F-A642-A720-7960D18CE7F1}" srcOrd="0" destOrd="0" presId="urn:microsoft.com/office/officeart/2005/8/layout/hChevron3"/>
    <dgm:cxn modelId="{2AECA9A6-EBF9-3741-9920-697C19BD6236}" srcId="{AC9362DB-3CF8-F148-AA21-3B99B18CC16F}" destId="{726EFAF5-FA29-D24C-BC3E-D23CC8C9F01F}" srcOrd="7" destOrd="0" parTransId="{99204E89-FFCA-BD4B-AAB5-15CFB64ABA09}" sibTransId="{24175AE4-9004-3447-AFC7-9DAAD128B476}"/>
    <dgm:cxn modelId="{F484D5AC-A452-4A51-88F4-DBAACEA9FE77}" type="presOf" srcId="{AD03BE2C-30F8-B242-B9C7-6DCB2A2C3B44}" destId="{C9D4F54B-5EB7-DC46-B62B-C411FE67A1FE}" srcOrd="0" destOrd="0" presId="urn:microsoft.com/office/officeart/2005/8/layout/hChevron3"/>
    <dgm:cxn modelId="{512A75D1-4CF6-469D-B26E-86CA2A735210}" type="presOf" srcId="{726EFAF5-FA29-D24C-BC3E-D23CC8C9F01F}" destId="{15937552-7AA6-D141-804E-180DC070C24F}" srcOrd="0" destOrd="0" presId="urn:microsoft.com/office/officeart/2005/8/layout/hChevron3"/>
    <dgm:cxn modelId="{2343BFD1-521F-C647-A48F-5ED8F4D1BE30}" srcId="{AC9362DB-3CF8-F148-AA21-3B99B18CC16F}" destId="{AD03BE2C-30F8-B242-B9C7-6DCB2A2C3B44}" srcOrd="0" destOrd="0" parTransId="{11DCD275-86F5-284B-A8E4-ADBA2E71DA66}" sibTransId="{1C695E96-A284-FE40-BDD6-0C2FD356A3E5}"/>
    <dgm:cxn modelId="{8E8917DA-274A-4973-ABD6-9333B47697B5}" type="presOf" srcId="{AC9362DB-3CF8-F148-AA21-3B99B18CC16F}" destId="{C0438588-03B4-574E-A9CB-0ED6D0CBAA85}" srcOrd="0" destOrd="0" presId="urn:microsoft.com/office/officeart/2005/8/layout/hChevron3"/>
    <dgm:cxn modelId="{0AE8D7E4-4185-E24D-86D2-B6D09E3F1B61}" srcId="{AC9362DB-3CF8-F148-AA21-3B99B18CC16F}" destId="{336FB308-56F2-264A-B03B-AED0A116E238}" srcOrd="6" destOrd="0" parTransId="{A9BEE4CF-008F-8647-9A50-5B5C0DEE9010}" sibTransId="{1B4F43D9-B15F-7E48-A651-C28A6648F7B8}"/>
    <dgm:cxn modelId="{05B8FBED-174B-47D5-9005-77C53BE74968}" type="presOf" srcId="{336FB308-56F2-264A-B03B-AED0A116E238}" destId="{4DB55CD1-E300-CB44-B9FB-F51118F2DDAD}" srcOrd="0" destOrd="0" presId="urn:microsoft.com/office/officeart/2005/8/layout/hChevron3"/>
    <dgm:cxn modelId="{36D798FD-EA3A-5843-ADE2-9C34B056D0B0}" srcId="{AC9362DB-3CF8-F148-AA21-3B99B18CC16F}" destId="{0C593FA5-45EC-8D4F-BE5E-EE3590818EAC}" srcOrd="2" destOrd="0" parTransId="{05539F9B-8EEC-994E-86DD-FADC2D8FB1B1}" sibTransId="{B61B6CAA-C2DA-D34A-9A5F-629387B3D7D2}"/>
    <dgm:cxn modelId="{79C4A958-3DF5-4ACA-B7B8-43AC3AEECBA2}" type="presParOf" srcId="{C0438588-03B4-574E-A9CB-0ED6D0CBAA85}" destId="{C9D4F54B-5EB7-DC46-B62B-C411FE67A1FE}" srcOrd="0" destOrd="0" presId="urn:microsoft.com/office/officeart/2005/8/layout/hChevron3"/>
    <dgm:cxn modelId="{27A337F0-E82F-4781-A222-7297E86E3B33}" type="presParOf" srcId="{C0438588-03B4-574E-A9CB-0ED6D0CBAA85}" destId="{CDBBC255-3993-1643-AA69-D2F17975655F}" srcOrd="1" destOrd="0" presId="urn:microsoft.com/office/officeart/2005/8/layout/hChevron3"/>
    <dgm:cxn modelId="{E2CAED79-B388-434A-97A5-478E08F51313}" type="presParOf" srcId="{C0438588-03B4-574E-A9CB-0ED6D0CBAA85}" destId="{E294DDD8-1803-F442-B88A-192CEDAB7CBE}" srcOrd="2" destOrd="0" presId="urn:microsoft.com/office/officeart/2005/8/layout/hChevron3"/>
    <dgm:cxn modelId="{C6D5FE19-3480-41FF-B1AA-955AF05ECBCA}" type="presParOf" srcId="{C0438588-03B4-574E-A9CB-0ED6D0CBAA85}" destId="{6802859A-F5C7-854F-91D1-5B4D56F162A8}" srcOrd="3" destOrd="0" presId="urn:microsoft.com/office/officeart/2005/8/layout/hChevron3"/>
    <dgm:cxn modelId="{61C6E2C2-D838-4D68-9725-BC27905143B4}" type="presParOf" srcId="{C0438588-03B4-574E-A9CB-0ED6D0CBAA85}" destId="{71B9572F-674F-A642-A720-7960D18CE7F1}" srcOrd="4" destOrd="0" presId="urn:microsoft.com/office/officeart/2005/8/layout/hChevron3"/>
    <dgm:cxn modelId="{A6A5EBCA-739E-4446-94B4-DB71598381D9}" type="presParOf" srcId="{C0438588-03B4-574E-A9CB-0ED6D0CBAA85}" destId="{C8106251-025E-2441-B7F3-630AB19627B5}" srcOrd="5" destOrd="0" presId="urn:microsoft.com/office/officeart/2005/8/layout/hChevron3"/>
    <dgm:cxn modelId="{0F9BD284-E07C-4996-8087-391894A01FFA}" type="presParOf" srcId="{C0438588-03B4-574E-A9CB-0ED6D0CBAA85}" destId="{1F1F273E-3A45-794A-B6BC-8E25B705B334}" srcOrd="6" destOrd="0" presId="urn:microsoft.com/office/officeart/2005/8/layout/hChevron3"/>
    <dgm:cxn modelId="{8C980322-319D-44BC-A56A-A1AC82C25330}" type="presParOf" srcId="{C0438588-03B4-574E-A9CB-0ED6D0CBAA85}" destId="{B6BBF290-07BF-454F-963B-6D856C279C06}" srcOrd="7" destOrd="0" presId="urn:microsoft.com/office/officeart/2005/8/layout/hChevron3"/>
    <dgm:cxn modelId="{0D59AA0D-CACF-4725-8117-6F1613B68922}" type="presParOf" srcId="{C0438588-03B4-574E-A9CB-0ED6D0CBAA85}" destId="{EE8E5195-8882-1D47-8A0F-A0272F57E226}" srcOrd="8" destOrd="0" presId="urn:microsoft.com/office/officeart/2005/8/layout/hChevron3"/>
    <dgm:cxn modelId="{865E0397-3E28-4F41-9DA7-482188C24828}" type="presParOf" srcId="{C0438588-03B4-574E-A9CB-0ED6D0CBAA85}" destId="{0D34C340-3749-584D-8924-AF80BE6671FE}" srcOrd="9" destOrd="0" presId="urn:microsoft.com/office/officeart/2005/8/layout/hChevron3"/>
    <dgm:cxn modelId="{740C9C9C-A42F-4E21-8E19-7398B4FBD4EA}" type="presParOf" srcId="{C0438588-03B4-574E-A9CB-0ED6D0CBAA85}" destId="{8923F60C-9B8D-1043-B1D4-EAD9BE5CC806}" srcOrd="10" destOrd="0" presId="urn:microsoft.com/office/officeart/2005/8/layout/hChevron3"/>
    <dgm:cxn modelId="{47E9AC18-56AA-46CC-A3F3-E242E04B5478}" type="presParOf" srcId="{C0438588-03B4-574E-A9CB-0ED6D0CBAA85}" destId="{F5FE3BB4-EC27-5640-9D1A-CF0E4AEF08CD}" srcOrd="11" destOrd="0" presId="urn:microsoft.com/office/officeart/2005/8/layout/hChevron3"/>
    <dgm:cxn modelId="{24652AD2-FC44-47CF-95F4-783E9E065443}" type="presParOf" srcId="{C0438588-03B4-574E-A9CB-0ED6D0CBAA85}" destId="{4DB55CD1-E300-CB44-B9FB-F51118F2DDAD}" srcOrd="12" destOrd="0" presId="urn:microsoft.com/office/officeart/2005/8/layout/hChevron3"/>
    <dgm:cxn modelId="{9A6F21AC-0CC6-437F-B30C-1E0A049FF40A}" type="presParOf" srcId="{C0438588-03B4-574E-A9CB-0ED6D0CBAA85}" destId="{9AF35E61-7459-9645-8B11-C6D2121BF19D}" srcOrd="13" destOrd="0" presId="urn:microsoft.com/office/officeart/2005/8/layout/hChevron3"/>
    <dgm:cxn modelId="{5B5B90EE-CBCB-44E3-B48F-A1A01E1F8B77}" type="presParOf" srcId="{C0438588-03B4-574E-A9CB-0ED6D0CBAA85}" destId="{15937552-7AA6-D141-804E-180DC070C24F}" srcOrd="14" destOrd="0" presId="urn:microsoft.com/office/officeart/2005/8/layout/hChevron3"/>
  </dgm:cxnLst>
  <dgm:bg>
    <a:noFill/>
  </dgm:bg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C9D4F54B-5EB7-DC46-B62B-C411FE67A1FE}">
      <dsp:nvSpPr>
        <dsp:cNvPr id="0" name=""/>
        <dsp:cNvSpPr/>
      </dsp:nvSpPr>
      <dsp:spPr>
        <a:xfrm>
          <a:off x="5297" y="2548414"/>
          <a:ext cx="1642185" cy="656874"/>
        </a:xfrm>
        <a:prstGeom prst="homePlate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3340" tIns="26670" rIns="13335" bIns="26670" numCol="1" spcCol="1270" anchor="ctr" anchorCtr="0">
          <a:noAutofit/>
        </a:bodyPr>
        <a:lstStyle/>
        <a:p>
          <a:pPr marL="0" lvl="0" indent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Font typeface="+mj-lt"/>
            <a:buNone/>
          </a:pPr>
          <a:r>
            <a:rPr lang="en-ZA" sz="1000" b="0" kern="1200" dirty="0"/>
            <a:t>Business Question and Research Objectives</a:t>
          </a:r>
          <a:endParaRPr lang="en-US" sz="1000" b="0" kern="1200" dirty="0"/>
        </a:p>
      </dsp:txBody>
      <dsp:txXfrm>
        <a:off x="5297" y="2548414"/>
        <a:ext cx="1477967" cy="656874"/>
      </dsp:txXfrm>
    </dsp:sp>
    <dsp:sp modelId="{E294DDD8-1803-F442-B88A-192CEDAB7CBE}">
      <dsp:nvSpPr>
        <dsp:cNvPr id="0" name=""/>
        <dsp:cNvSpPr/>
      </dsp:nvSpPr>
      <dsp:spPr>
        <a:xfrm>
          <a:off x="1319045" y="2548414"/>
          <a:ext cx="1642185" cy="656874"/>
        </a:xfrm>
        <a:prstGeom prst="chevron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0005" tIns="26670" rIns="13335" bIns="26670" numCol="1" spcCol="1270" anchor="ctr" anchorCtr="0">
          <a:noAutofit/>
        </a:bodyPr>
        <a:lstStyle/>
        <a:p>
          <a:pPr marL="0" lvl="0" indent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ZA" sz="1000" b="0" kern="1200" dirty="0"/>
            <a:t>Business Problem and Project Outcomes</a:t>
          </a:r>
        </a:p>
      </dsp:txBody>
      <dsp:txXfrm>
        <a:off x="1647482" y="2548414"/>
        <a:ext cx="985311" cy="656874"/>
      </dsp:txXfrm>
    </dsp:sp>
    <dsp:sp modelId="{71B9572F-674F-A642-A720-7960D18CE7F1}">
      <dsp:nvSpPr>
        <dsp:cNvPr id="0" name=""/>
        <dsp:cNvSpPr/>
      </dsp:nvSpPr>
      <dsp:spPr>
        <a:xfrm>
          <a:off x="2632794" y="2548414"/>
          <a:ext cx="1642185" cy="656874"/>
        </a:xfrm>
        <a:prstGeom prst="chevron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0005" tIns="26670" rIns="13335" bIns="26670" numCol="1" spcCol="1270" anchor="ctr" anchorCtr="0">
          <a:noAutofit/>
        </a:bodyPr>
        <a:lstStyle/>
        <a:p>
          <a:pPr marL="0" lvl="0" indent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ZA" sz="1000" b="0" kern="1200" dirty="0"/>
            <a:t>Literature Review</a:t>
          </a:r>
        </a:p>
      </dsp:txBody>
      <dsp:txXfrm>
        <a:off x="2961231" y="2548414"/>
        <a:ext cx="985311" cy="656874"/>
      </dsp:txXfrm>
    </dsp:sp>
    <dsp:sp modelId="{1F1F273E-3A45-794A-B6BC-8E25B705B334}">
      <dsp:nvSpPr>
        <dsp:cNvPr id="0" name=""/>
        <dsp:cNvSpPr/>
      </dsp:nvSpPr>
      <dsp:spPr>
        <a:xfrm>
          <a:off x="3946542" y="2548414"/>
          <a:ext cx="1642185" cy="656874"/>
        </a:xfrm>
        <a:prstGeom prst="chevron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0005" tIns="26670" rIns="13335" bIns="26670" numCol="1" spcCol="1270" anchor="ctr" anchorCtr="0">
          <a:noAutofit/>
        </a:bodyPr>
        <a:lstStyle/>
        <a:p>
          <a:pPr marL="0" lvl="0" indent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ZA" sz="1000" b="0" kern="1200" dirty="0"/>
            <a:t>Research Methodology &amp; Workflow</a:t>
          </a:r>
        </a:p>
      </dsp:txBody>
      <dsp:txXfrm>
        <a:off x="4274979" y="2548414"/>
        <a:ext cx="985311" cy="656874"/>
      </dsp:txXfrm>
    </dsp:sp>
    <dsp:sp modelId="{EE8E5195-8882-1D47-8A0F-A0272F57E226}">
      <dsp:nvSpPr>
        <dsp:cNvPr id="0" name=""/>
        <dsp:cNvSpPr/>
      </dsp:nvSpPr>
      <dsp:spPr>
        <a:xfrm>
          <a:off x="5260290" y="2548414"/>
          <a:ext cx="1642185" cy="656874"/>
        </a:xfrm>
        <a:prstGeom prst="chevron">
          <a:avLst/>
        </a:prstGeom>
        <a:solidFill>
          <a:schemeClr val="accent6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0005" tIns="26670" rIns="13335" bIns="26670" numCol="1" spcCol="1270" anchor="ctr" anchorCtr="0">
          <a:noAutofit/>
        </a:bodyPr>
        <a:lstStyle/>
        <a:p>
          <a:pPr marL="0" lvl="0" indent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ZA" sz="1000" b="0" kern="1200" dirty="0"/>
            <a:t>Phases of Research Project</a:t>
          </a:r>
        </a:p>
      </dsp:txBody>
      <dsp:txXfrm>
        <a:off x="5588727" y="2548414"/>
        <a:ext cx="985311" cy="656874"/>
      </dsp:txXfrm>
    </dsp:sp>
    <dsp:sp modelId="{8923F60C-9B8D-1043-B1D4-EAD9BE5CC806}">
      <dsp:nvSpPr>
        <dsp:cNvPr id="0" name=""/>
        <dsp:cNvSpPr/>
      </dsp:nvSpPr>
      <dsp:spPr>
        <a:xfrm>
          <a:off x="6574039" y="2548414"/>
          <a:ext cx="1642185" cy="656874"/>
        </a:xfrm>
        <a:prstGeom prst="chevron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0005" tIns="26670" rIns="13335" bIns="26670" numCol="1" spcCol="1270" anchor="ctr" anchorCtr="0">
          <a:noAutofit/>
        </a:bodyPr>
        <a:lstStyle/>
        <a:p>
          <a:pPr marL="0" lvl="0" indent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ZA" sz="1000" b="0" kern="1200"/>
            <a:t>Research Intelligence </a:t>
          </a:r>
          <a:endParaRPr lang="en-ZA" sz="1000" b="0" kern="1200" dirty="0"/>
        </a:p>
      </dsp:txBody>
      <dsp:txXfrm>
        <a:off x="6902476" y="2548414"/>
        <a:ext cx="985311" cy="656874"/>
      </dsp:txXfrm>
    </dsp:sp>
    <dsp:sp modelId="{4DB55CD1-E300-CB44-B9FB-F51118F2DDAD}">
      <dsp:nvSpPr>
        <dsp:cNvPr id="0" name=""/>
        <dsp:cNvSpPr/>
      </dsp:nvSpPr>
      <dsp:spPr>
        <a:xfrm>
          <a:off x="7887787" y="2548414"/>
          <a:ext cx="1642185" cy="656874"/>
        </a:xfrm>
        <a:prstGeom prst="chevron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0005" tIns="26670" rIns="13335" bIns="26670" numCol="1" spcCol="1270" anchor="ctr" anchorCtr="0">
          <a:noAutofit/>
        </a:bodyPr>
        <a:lstStyle/>
        <a:p>
          <a:pPr marL="0" lvl="0" indent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ZA" sz="1000" b="0" kern="1200" dirty="0"/>
            <a:t>Research Analytics</a:t>
          </a:r>
        </a:p>
      </dsp:txBody>
      <dsp:txXfrm>
        <a:off x="8216224" y="2548414"/>
        <a:ext cx="985311" cy="656874"/>
      </dsp:txXfrm>
    </dsp:sp>
    <dsp:sp modelId="{15937552-7AA6-D141-804E-180DC070C24F}">
      <dsp:nvSpPr>
        <dsp:cNvPr id="0" name=""/>
        <dsp:cNvSpPr/>
      </dsp:nvSpPr>
      <dsp:spPr>
        <a:xfrm>
          <a:off x="9201536" y="2548414"/>
          <a:ext cx="1642185" cy="656874"/>
        </a:xfrm>
        <a:prstGeom prst="chevron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0005" tIns="26670" rIns="13335" bIns="26670" numCol="1" spcCol="1270" anchor="ctr" anchorCtr="0">
          <a:noAutofit/>
        </a:bodyPr>
        <a:lstStyle/>
        <a:p>
          <a:pPr marL="0" lvl="0" indent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ZA" sz="1000" b="0" kern="1200" dirty="0"/>
            <a:t>Research Insights</a:t>
          </a:r>
          <a:endParaRPr lang="en-ZA" sz="800" b="0" kern="1200" dirty="0"/>
        </a:p>
      </dsp:txBody>
      <dsp:txXfrm>
        <a:off x="9529973" y="2548414"/>
        <a:ext cx="985311" cy="656874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hChevron3">
  <dgm:title val=""/>
  <dgm:desc val=""/>
  <dgm:catLst>
    <dgm:cat type="process" pri="10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hoose name="Name4">
      <dgm:if name="Name5" axis="root des" func="maxDepth" op="gte" val="2">
        <dgm:constrLst>
          <dgm:constr type="w" for="ch" forName="parAndChTx" refType="w"/>
          <dgm:constr type="primFontSz" for="ch" ptType="node" op="equ"/>
          <dgm:constr type="w" for="ch" forName="parAndChSpace" refType="w" refFor="ch" refForName="parAndChTx" fact="-0.2"/>
          <dgm:constr type="w" for="ch" ptType="sibTrans" op="equ"/>
        </dgm:constrLst>
        <dgm:ruleLst/>
        <dgm:forEach name="Name6" axis="ch" ptType="node">
          <dgm:layoutNode name="parAndChTx">
            <dgm:varLst>
              <dgm:bulletEnabled val="1"/>
            </dgm:varLst>
            <dgm:alg type="tx"/>
            <dgm:choose name="Name7">
              <dgm:if name="Name8" func="var" arg="dir" op="equ" val="norm">
                <dgm:choose name="Name9">
                  <dgm:if name="Name10" axis="self" ptType="node" func="pos" op="equ" val="1">
                    <dgm:shape xmlns:r="http://schemas.openxmlformats.org/officeDocument/2006/relationships" type="homePlate" r:blip="">
                      <dgm:adjLst>
                        <dgm:adj idx="1" val="0.25"/>
                      </dgm:adjLst>
                    </dgm:shape>
                    <dgm:presOf axis="desOrSelf" ptType="node"/>
                    <dgm:constrLst>
                      <dgm:constr type="h" refType="w" op="equ" fact="0.8"/>
                      <dgm:constr type="primFontSz" val="65"/>
                      <dgm:constr type="tMarg" refType="primFontSz" fact="0.2"/>
                      <dgm:constr type="bMarg" refType="primFontSz" fact="0.2"/>
                      <dgm:constr type="lMarg" refType="w" fact="0.1"/>
                      <dgm:constr type="rMarg" refType="w" fact="0.4"/>
                    </dgm:constrLst>
                  </dgm:if>
                  <dgm:else name="Name11">
                    <dgm:shape xmlns:r="http://schemas.openxmlformats.org/officeDocument/2006/relationships" type="chevron" r:blip="">
                      <dgm:adjLst>
                        <dgm:adj idx="1" val="0.25"/>
                      </dgm:adjLst>
                    </dgm:shape>
                    <dgm:presOf axis="desOrSelf" ptType="node"/>
                    <dgm:constrLst>
                      <dgm:constr type="h" refType="w" op="equ" fact="0.8"/>
                      <dgm:constr type="primFontSz" val="65"/>
                      <dgm:constr type="tMarg" refType="primFontSz" fact="0.2"/>
                      <dgm:constr type="bMarg" refType="primFontSz" fact="0.2"/>
                      <dgm:constr type="lMarg" refType="w" fact="0.1"/>
                      <dgm:constr type="rMarg" refType="w" fact="0.1"/>
                    </dgm:constrLst>
                  </dgm:else>
                </dgm:choose>
              </dgm:if>
              <dgm:else name="Name12">
                <dgm:choose name="Name13">
                  <dgm:if name="Name14" axis="self" ptType="node" func="pos" op="equ" val="1">
                    <dgm:shape xmlns:r="http://schemas.openxmlformats.org/officeDocument/2006/relationships" rot="180" type="homePlate" r:blip="">
                      <dgm:adjLst>
                        <dgm:adj idx="1" val="0.25"/>
                      </dgm:adjLst>
                    </dgm:shape>
                    <dgm:presOf axis="desOrSelf" ptType="node"/>
                    <dgm:constrLst>
                      <dgm:constr type="h" refType="w" op="equ" fact="0.8"/>
                      <dgm:constr type="primFontSz" val="65"/>
                      <dgm:constr type="tMarg" refType="primFontSz" fact="0.2"/>
                      <dgm:constr type="bMarg" refType="primFontSz" fact="0.2"/>
                      <dgm:constr type="lMarg" refType="w" fact="0.4"/>
                      <dgm:constr type="rMarg" refType="w" fact="0.1"/>
                    </dgm:constrLst>
                  </dgm:if>
                  <dgm:else name="Name15">
                    <dgm:shape xmlns:r="http://schemas.openxmlformats.org/officeDocument/2006/relationships" rot="180" type="chevron" r:blip="">
                      <dgm:adjLst>
                        <dgm:adj idx="1" val="0.25"/>
                      </dgm:adjLst>
                    </dgm:shape>
                    <dgm:presOf axis="desOrSelf" ptType="node"/>
                    <dgm:constrLst>
                      <dgm:constr type="h" refType="w" op="equ" fact="0.8"/>
                      <dgm:constr type="primFontSz" val="65"/>
                      <dgm:constr type="tMarg" refType="primFontSz" fact="0.2"/>
                      <dgm:constr type="bMarg" refType="primFontSz" fact="0.2"/>
                      <dgm:constr type="lMarg" refType="w" fact="0.1"/>
                      <dgm:constr type="rMarg" refType="w" fact="0.1"/>
                    </dgm:constrLst>
                  </dgm:else>
                </dgm:choose>
              </dgm:else>
            </dgm:choose>
            <dgm:ruleLst>
              <dgm:rule type="primFontSz" val="5" fact="NaN" max="NaN"/>
            </dgm:ruleLst>
          </dgm:layoutNode>
          <dgm:forEach name="Name16" axis="followSib" ptType="sibTrans" cnt="1">
            <dgm:layoutNode name="parAndChSpace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forEach>
        </dgm:forEach>
      </dgm:if>
      <dgm:else name="Name17">
        <dgm:constrLst>
          <dgm:constr type="w" for="ch" forName="parTxOnly" refType="w"/>
          <dgm:constr type="primFontSz" for="ch" ptType="node" op="equ"/>
          <dgm:constr type="w" for="ch" forName="parSpace" refType="w" refFor="ch" refForName="parTxOnly" fact="-0.2"/>
          <dgm:constr type="w" for="ch" ptType="sibTrans" op="equ"/>
        </dgm:constrLst>
        <dgm:ruleLst/>
        <dgm:forEach name="Name18" axis="ch" ptType="node">
          <dgm:layoutNode name="parTxOnly">
            <dgm:varLst>
              <dgm:bulletEnabled val="1"/>
            </dgm:varLst>
            <dgm:alg type="tx"/>
            <dgm:presOf axis="desOrSelf" ptType="node"/>
            <dgm:choose name="Name19">
              <dgm:if name="Name20" func="var" arg="dir" op="equ" val="norm">
                <dgm:choose name="Name21">
                  <dgm:if name="Name22" axis="self" ptType="node" func="pos" op="equ" val="1">
                    <dgm:shape xmlns:r="http://schemas.openxmlformats.org/officeDocument/2006/relationships" type="homePlate" r:blip="">
                      <dgm:adjLst/>
                    </dgm:shape>
                    <dgm:constrLst>
                      <dgm:constr type="h" refType="w" op="equ" fact="0.4"/>
                      <dgm:constr type="primFontSz" val="65"/>
                      <dgm:constr type="tMarg" refType="primFontSz" fact="0.21"/>
                      <dgm:constr type="bMarg" refType="primFontSz" fact="0.21"/>
                      <dgm:constr type="lMarg" refType="primFontSz" fact="0.42"/>
                      <dgm:constr type="rMarg" refType="primFontSz" fact="0.105"/>
                    </dgm:constrLst>
                  </dgm:if>
                  <dgm:else name="Name23">
                    <dgm:shape xmlns:r="http://schemas.openxmlformats.org/officeDocument/2006/relationships" type="chevron" r:blip="">
                      <dgm:adjLst/>
                    </dgm:shape>
                    <dgm:constrLst>
                      <dgm:constr type="h" refType="w" op="equ" fact="0.4"/>
                      <dgm:constr type="primFontSz" val="65"/>
                      <dgm:constr type="tMarg" refType="primFontSz" fact="0.21"/>
                      <dgm:constr type="bMarg" refType="primFontSz" fact="0.21"/>
                      <dgm:constr type="lMarg" refType="primFontSz" fact="0.315"/>
                      <dgm:constr type="rMarg" refType="primFontSz" fact="0.105"/>
                    </dgm:constrLst>
                  </dgm:else>
                </dgm:choose>
              </dgm:if>
              <dgm:else name="Name24">
                <dgm:choose name="Name25">
                  <dgm:if name="Name26" axis="self" ptType="node" func="pos" op="equ" val="1">
                    <dgm:shape xmlns:r="http://schemas.openxmlformats.org/officeDocument/2006/relationships" rot="180" type="homePlate" r:blip="">
                      <dgm:adjLst/>
                    </dgm:shape>
                    <dgm:constrLst>
                      <dgm:constr type="h" refType="w" op="equ" fact="0.4"/>
                      <dgm:constr type="primFontSz" val="65"/>
                      <dgm:constr type="tMarg" refType="primFontSz" fact="0.21"/>
                      <dgm:constr type="bMarg" refType="primFontSz" fact="0.21"/>
                      <dgm:constr type="lMarg" refType="primFontSz" fact="0.105"/>
                      <dgm:constr type="rMarg" refType="primFontSz" fact="0.42"/>
                    </dgm:constrLst>
                  </dgm:if>
                  <dgm:else name="Name27">
                    <dgm:shape xmlns:r="http://schemas.openxmlformats.org/officeDocument/2006/relationships" rot="180" type="chevron" r:blip="">
                      <dgm:adjLst/>
                    </dgm:shape>
                    <dgm:constrLst>
                      <dgm:constr type="h" refType="w" op="equ" fact="0.4"/>
                      <dgm:constr type="primFontSz" val="65"/>
                      <dgm:constr type="tMarg" refType="primFontSz" fact="0.21"/>
                      <dgm:constr type="bMarg" refType="primFontSz" fact="0.21"/>
                      <dgm:constr type="lMarg" refType="primFontSz" fact="0.105"/>
                      <dgm:constr type="rMarg" refType="primFontSz" fact="0.315"/>
                    </dgm:constrLst>
                  </dgm:else>
                </dgm:choose>
              </dgm:else>
            </dgm:choose>
            <dgm:ruleLst>
              <dgm:rule type="primFontSz" val="5" fact="NaN" max="NaN"/>
            </dgm:ruleLst>
          </dgm:layoutNode>
          <dgm:forEach name="Name28" axis="followSib" ptType="sibTrans" cnt="1">
            <dgm:layoutNode name="parSpace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forEach>
        </dgm:forEach>
      </dgm:else>
    </dgm:choose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ZA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E253845-EFF2-43ED-8ABB-DE6BB4EB9594}" type="datetimeFigureOut">
              <a:rPr lang="en-ZA" smtClean="0"/>
              <a:t>2025/06/05</a:t>
            </a:fld>
            <a:endParaRPr lang="en-ZA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ZA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ZA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ZA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DAE7B3E-8D92-4CBF-85BD-0DBDB4AA632B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98379946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ZA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DAE7B3E-8D92-4CBF-85BD-0DBDB4AA632B}" type="slidenum">
              <a:rPr lang="en-ZA" smtClean="0"/>
              <a:t>1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38704147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Important:</a:t>
            </a:r>
            <a:r>
              <a:rPr lang="en-US" baseline="0" dirty="0"/>
              <a:t> add notes here below EACH SLIDE giving a FULL explanation of the slide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AB9770A-09B1-454C-ACEE-59D9CC264CE2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40364036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ZA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DAE7B3E-8D92-4CBF-85BD-0DBDB4AA632B}" type="slidenum">
              <a:rPr lang="en-ZA" smtClean="0"/>
              <a:t>3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1983649894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ZA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DAE7B3E-8D92-4CBF-85BD-0DBDB4AA632B}" type="slidenum">
              <a:rPr lang="en-ZA" smtClean="0"/>
              <a:t>4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1824970608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ZA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DAE7B3E-8D92-4CBF-85BD-0DBDB4AA632B}" type="slidenum">
              <a:rPr lang="en-ZA" smtClean="0"/>
              <a:t>5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3845838716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ZA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DAE7B3E-8D92-4CBF-85BD-0DBDB4AA632B}" type="slidenum">
              <a:rPr lang="en-ZA" smtClean="0"/>
              <a:t>6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1264411112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ZA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DAE7B3E-8D92-4CBF-85BD-0DBDB4AA632B}" type="slidenum">
              <a:rPr lang="en-ZA" smtClean="0"/>
              <a:t>7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3569659717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ZA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DAE7B3E-8D92-4CBF-85BD-0DBDB4AA632B}" type="slidenum">
              <a:rPr lang="en-ZA" smtClean="0"/>
              <a:t>8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1114828694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ZA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DAE7B3E-8D92-4CBF-85BD-0DBDB4AA632B}" type="slidenum">
              <a:rPr lang="en-ZA" smtClean="0"/>
              <a:t>9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3602821489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ZA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DAE7B3E-8D92-4CBF-85BD-0DBDB4AA632B}" type="slidenum">
              <a:rPr lang="en-ZA" smtClean="0"/>
              <a:t>10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4215739309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ZA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DAE7B3E-8D92-4CBF-85BD-0DBDB4AA632B}" type="slidenum">
              <a:rPr lang="en-ZA" smtClean="0"/>
              <a:t>11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361264000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ZA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DAE7B3E-8D92-4CBF-85BD-0DBDB4AA632B}" type="slidenum">
              <a:rPr lang="en-ZA" smtClean="0"/>
              <a:t>12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2980547965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ZA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DAE7B3E-8D92-4CBF-85BD-0DBDB4AA632B}" type="slidenum">
              <a:rPr lang="en-ZA" smtClean="0"/>
              <a:t>13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2640709337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ZA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DAE7B3E-8D92-4CBF-85BD-0DBDB4AA632B}" type="slidenum">
              <a:rPr lang="en-ZA" smtClean="0"/>
              <a:t>14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37156065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ZA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DAE7B3E-8D92-4CBF-85BD-0DBDB4AA632B}" type="slidenum">
              <a:rPr lang="en-ZA" smtClean="0"/>
              <a:t>15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1239287437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ZA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DAE7B3E-8D92-4CBF-85BD-0DBDB4AA632B}" type="slidenum">
              <a:rPr lang="en-ZA" smtClean="0"/>
              <a:t>16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1308314334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ZA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DAE7B3E-8D92-4CBF-85BD-0DBDB4AA632B}" type="slidenum">
              <a:rPr lang="en-ZA" smtClean="0"/>
              <a:t>17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3717759507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ZA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DAE7B3E-8D92-4CBF-85BD-0DBDB4AA632B}" type="slidenum">
              <a:rPr lang="en-ZA" smtClean="0"/>
              <a:t>18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86231770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ZA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DAE7B3E-8D92-4CBF-85BD-0DBDB4AA632B}" type="slidenum">
              <a:rPr lang="en-ZA" smtClean="0"/>
              <a:t>19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414322496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600200" y="2386744"/>
            <a:ext cx="8991600" cy="1645920"/>
          </a:xfrm>
          <a:solidFill>
            <a:srgbClr val="FFFFFF"/>
          </a:solidFill>
          <a:ln w="38100">
            <a:solidFill>
              <a:srgbClr val="404040"/>
            </a:solidFill>
          </a:ln>
        </p:spPr>
        <p:txBody>
          <a:bodyPr lIns="274320" rIns="274320" anchor="ctr" anchorCtr="1">
            <a:normAutofit/>
          </a:bodyPr>
          <a:lstStyle>
            <a:lvl1pPr algn="ctr">
              <a:defRPr sz="3800">
                <a:solidFill>
                  <a:srgbClr val="262626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695194" y="4352544"/>
            <a:ext cx="6801612" cy="1239894"/>
          </a:xfrm>
          <a:noFill/>
        </p:spPr>
        <p:txBody>
          <a:bodyPr>
            <a:normAutofit/>
          </a:bodyPr>
          <a:lstStyle>
            <a:lvl1pPr marL="0" indent="0" algn="ctr">
              <a:buNone/>
              <a:defRPr sz="2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88B153-0B3C-4C20-A3CD-6A640A1B5E51}" type="datetimeFigureOut">
              <a:rPr lang="en-ZA" smtClean="0"/>
              <a:t>2025/06/05</a:t>
            </a:fld>
            <a:endParaRPr lang="en-ZA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3085E0-A071-4845-876E-B0329E82240F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1752610074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88B153-0B3C-4C20-A3CD-6A640A1B5E51}" type="datetimeFigureOut">
              <a:rPr lang="en-ZA" smtClean="0"/>
              <a:t>2025/06/05</a:t>
            </a:fld>
            <a:endParaRPr lang="en-ZA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3085E0-A071-4845-876E-B0329E82240F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422869665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600200" y="2386744"/>
            <a:ext cx="8991600" cy="1645920"/>
          </a:xfrm>
          <a:solidFill>
            <a:srgbClr val="FFFFFF"/>
          </a:solidFill>
          <a:ln w="38100">
            <a:solidFill>
              <a:srgbClr val="404040"/>
            </a:solidFill>
          </a:ln>
        </p:spPr>
        <p:txBody>
          <a:bodyPr lIns="274320" rIns="274320" anchor="ctr" anchorCtr="1">
            <a:normAutofit/>
          </a:bodyPr>
          <a:lstStyle>
            <a:lvl1pPr>
              <a:defRPr sz="3800">
                <a:solidFill>
                  <a:srgbClr val="262626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695194" y="4352465"/>
            <a:ext cx="6801612" cy="1265082"/>
          </a:xfrm>
        </p:spPr>
        <p:txBody>
          <a:bodyPr anchor="t" anchorCtr="1">
            <a:normAutofit/>
          </a:bodyPr>
          <a:lstStyle>
            <a:lvl1pPr marL="0" indent="0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88B153-0B3C-4C20-A3CD-6A640A1B5E51}" type="datetimeFigureOut">
              <a:rPr lang="en-ZA" smtClean="0"/>
              <a:t>2025/06/05</a:t>
            </a:fld>
            <a:endParaRPr lang="en-ZA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3085E0-A071-4845-876E-B0329E82240F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2491633630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581912" y="2638044"/>
            <a:ext cx="4271771" cy="3101982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338315" y="2638044"/>
            <a:ext cx="4270247" cy="3101982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8" name="Date Placeholder 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88B153-0B3C-4C20-A3CD-6A640A1B5E51}" type="datetimeFigureOut">
              <a:rPr lang="en-ZA" smtClean="0"/>
              <a:t>2025/06/05</a:t>
            </a:fld>
            <a:endParaRPr lang="en-ZA"/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3085E0-A071-4845-876E-B0329E82240F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189482659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583436" y="2313433"/>
            <a:ext cx="4270248" cy="704087"/>
          </a:xfrm>
        </p:spPr>
        <p:txBody>
          <a:bodyPr anchor="b" anchorCtr="1">
            <a:normAutofit/>
          </a:bodyPr>
          <a:lstStyle>
            <a:lvl1pPr marL="0" indent="0" algn="ctr">
              <a:buNone/>
              <a:defRPr sz="1900" b="0" cap="all" spc="100" baseline="0">
                <a:solidFill>
                  <a:schemeClr val="accent2"/>
                </a:solidFill>
              </a:defRPr>
            </a:lvl1pPr>
            <a:lvl2pPr marL="457200" indent="0">
              <a:buNone/>
              <a:defRPr sz="19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583436" y="3143250"/>
            <a:ext cx="4270248" cy="2596776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338316" y="3143250"/>
            <a:ext cx="4253484" cy="2596776"/>
          </a:xfrm>
        </p:spPr>
        <p:txBody>
          <a:bodyPr/>
          <a:lstStyle>
            <a:lvl5pPr>
              <a:defRPr/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6338316" y="2313433"/>
            <a:ext cx="4270248" cy="704087"/>
          </a:xfrm>
        </p:spPr>
        <p:txBody>
          <a:bodyPr anchor="b" anchorCtr="1">
            <a:normAutofit/>
          </a:bodyPr>
          <a:lstStyle>
            <a:lvl1pPr marL="0" indent="0" algn="ctr">
              <a:buNone/>
              <a:defRPr sz="1900" b="0" cap="all" spc="100" baseline="0">
                <a:solidFill>
                  <a:schemeClr val="accent2"/>
                </a:solidFill>
              </a:defRPr>
            </a:lvl1pPr>
            <a:lvl2pPr marL="457200" indent="0">
              <a:buNone/>
              <a:defRPr sz="19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88B153-0B3C-4C20-A3CD-6A640A1B5E51}" type="datetimeFigureOut">
              <a:rPr lang="en-ZA" smtClean="0"/>
              <a:t>2025/06/05</a:t>
            </a:fld>
            <a:endParaRPr lang="en-ZA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3085E0-A071-4845-876E-B0329E82240F}" type="slidenum">
              <a:rPr lang="en-ZA" smtClean="0"/>
              <a:t>‹#›</a:t>
            </a:fld>
            <a:endParaRPr lang="en-ZA"/>
          </a:p>
        </p:txBody>
      </p:sp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8695926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88B153-0B3C-4C20-A3CD-6A640A1B5E51}" type="datetimeFigureOut">
              <a:rPr lang="en-ZA" smtClean="0"/>
              <a:t>2025/06/05</a:t>
            </a:fld>
            <a:endParaRPr lang="en-ZA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3085E0-A071-4845-876E-B0329E82240F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343295616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88B153-0B3C-4C20-A3CD-6A640A1B5E51}" type="datetimeFigureOut">
              <a:rPr lang="en-ZA" smtClean="0"/>
              <a:t>2025/06/05</a:t>
            </a:fld>
            <a:endParaRPr lang="en-ZA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3085E0-A071-4845-876E-B0329E82240F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170679830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Rectangle 25"/>
          <p:cNvSpPr/>
          <p:nvPr/>
        </p:nvSpPr>
        <p:spPr>
          <a:xfrm>
            <a:off x="0" y="0"/>
            <a:ext cx="6096000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04672" y="2243828"/>
            <a:ext cx="4486656" cy="1141497"/>
          </a:xfrm>
          <a:solidFill>
            <a:srgbClr val="FFFFFF"/>
          </a:solidFill>
          <a:ln>
            <a:solidFill>
              <a:srgbClr val="404040"/>
            </a:solidFill>
          </a:ln>
        </p:spPr>
        <p:txBody>
          <a:bodyPr anchor="ctr" anchorCtr="1">
            <a:normAutofit/>
          </a:bodyPr>
          <a:lstStyle>
            <a:lvl1pPr>
              <a:defRPr sz="2200">
                <a:solidFill>
                  <a:srgbClr val="262626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736080" y="804672"/>
            <a:ext cx="4815840" cy="5248656"/>
          </a:xfrm>
        </p:spPr>
        <p:txBody>
          <a:bodyPr>
            <a:normAutofit/>
          </a:bodyPr>
          <a:lstStyle>
            <a:lvl1pPr>
              <a:defRPr sz="1900">
                <a:solidFill>
                  <a:schemeClr val="tx1"/>
                </a:solidFill>
              </a:defRPr>
            </a:lvl1pPr>
            <a:lvl2pPr>
              <a:defRPr sz="1600">
                <a:solidFill>
                  <a:schemeClr val="tx1"/>
                </a:solidFill>
              </a:defRPr>
            </a:lvl2pPr>
            <a:lvl3pPr>
              <a:defRPr sz="1600">
                <a:solidFill>
                  <a:schemeClr val="tx1"/>
                </a:solidFill>
              </a:defRPr>
            </a:lvl3pPr>
            <a:lvl4pPr>
              <a:defRPr sz="1600">
                <a:solidFill>
                  <a:schemeClr val="tx1"/>
                </a:solidFill>
              </a:defRPr>
            </a:lvl4pPr>
            <a:lvl5pPr>
              <a:defRPr sz="1600">
                <a:solidFill>
                  <a:schemeClr val="tx1"/>
                </a:solidFill>
              </a:defRPr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15568" y="3549918"/>
            <a:ext cx="3794760" cy="2194036"/>
          </a:xfrm>
        </p:spPr>
        <p:txBody>
          <a:bodyPr anchor="t" anchorCtr="1">
            <a:normAutofit/>
          </a:bodyPr>
          <a:lstStyle>
            <a:lvl1pPr marL="0" indent="0" algn="ctr"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88B153-0B3C-4C20-A3CD-6A640A1B5E51}" type="datetimeFigureOut">
              <a:rPr lang="en-ZA" smtClean="0"/>
              <a:t>2025/06/05</a:t>
            </a:fld>
            <a:endParaRPr lang="en-ZA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804672" y="6236208"/>
            <a:ext cx="5167503" cy="320040"/>
          </a:xfrm>
        </p:spPr>
        <p:txBody>
          <a:bodyPr/>
          <a:lstStyle>
            <a:lvl1pPr>
              <a:defRPr>
                <a:solidFill>
                  <a:srgbClr val="FFFFFF">
                    <a:alpha val="69804"/>
                  </a:srgbClr>
                </a:solidFill>
              </a:defRPr>
            </a:lvl1pPr>
          </a:lstStyle>
          <a:p>
            <a:endParaRPr lang="en-ZA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3085E0-A071-4845-876E-B0329E82240F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296655640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Rectangle 17"/>
          <p:cNvSpPr/>
          <p:nvPr/>
        </p:nvSpPr>
        <p:spPr>
          <a:xfrm>
            <a:off x="0" y="0"/>
            <a:ext cx="6095999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08523" y="2243828"/>
            <a:ext cx="4494998" cy="1134640"/>
          </a:xfrm>
          <a:solidFill>
            <a:srgbClr val="FFFFFF"/>
          </a:solidFill>
          <a:ln>
            <a:solidFill>
              <a:srgbClr val="404040"/>
            </a:solidFill>
          </a:ln>
        </p:spPr>
        <p:txBody>
          <a:bodyPr anchor="ctr" anchorCtr="1">
            <a:noAutofit/>
          </a:bodyPr>
          <a:lstStyle>
            <a:lvl1pPr>
              <a:defRPr sz="2200">
                <a:solidFill>
                  <a:srgbClr val="262626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095999" y="0"/>
            <a:ext cx="6102097" cy="6858000"/>
          </a:xfrm>
          <a:solidFill>
            <a:schemeClr val="bg1">
              <a:lumMod val="75000"/>
            </a:schemeClr>
          </a:solidFill>
        </p:spPr>
        <p:txBody>
          <a:bodyPr anchor="t"/>
          <a:lstStyle>
            <a:lvl1pPr marL="0" indent="0">
              <a:buNone/>
              <a:defRPr sz="3200">
                <a:solidFill>
                  <a:schemeClr val="tx1"/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15568" y="3549918"/>
            <a:ext cx="3794760" cy="2194037"/>
          </a:xfrm>
        </p:spPr>
        <p:txBody>
          <a:bodyPr anchor="t" anchorCtr="1">
            <a:normAutofit/>
          </a:bodyPr>
          <a:lstStyle>
            <a:lvl1pPr marL="0" indent="0" algn="ctr"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rgbClr val="FFFFFF">
                    <a:alpha val="90000"/>
                  </a:srgbClr>
                </a:solidFill>
                <a:effectLst>
                  <a:outerShdw blurRad="50800" dist="38100" dir="2700000" algn="tl" rotWithShape="0">
                    <a:prstClr val="black">
                      <a:alpha val="43000"/>
                    </a:prstClr>
                  </a:outerShdw>
                </a:effectLst>
              </a:defRPr>
            </a:lvl1pPr>
          </a:lstStyle>
          <a:p>
            <a:fld id="{1788B153-0B3C-4C20-A3CD-6A640A1B5E51}" type="datetimeFigureOut">
              <a:rPr lang="en-ZA" smtClean="0"/>
              <a:t>2025/06/05</a:t>
            </a:fld>
            <a:endParaRPr lang="en-ZA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808523" y="6236208"/>
            <a:ext cx="5103729" cy="320040"/>
          </a:xfrm>
        </p:spPr>
        <p:txBody>
          <a:bodyPr/>
          <a:lstStyle>
            <a:lvl1pPr>
              <a:defRPr>
                <a:solidFill>
                  <a:srgbClr val="FFFFFF">
                    <a:alpha val="70000"/>
                  </a:srgbClr>
                </a:solidFill>
              </a:defRPr>
            </a:lvl1pPr>
          </a:lstStyle>
          <a:p>
            <a:endParaRPr lang="en-ZA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3085E0-A071-4845-876E-B0329E82240F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378178490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88B153-0B3C-4C20-A3CD-6A640A1B5E51}" type="datetimeFigureOut">
              <a:rPr lang="en-ZA" smtClean="0"/>
              <a:t>2025/06/05</a:t>
            </a:fld>
            <a:endParaRPr lang="en-Z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3085E0-A071-4845-876E-B0329E82240F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319925344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653112" y="937260"/>
            <a:ext cx="1298608" cy="4983480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231136" y="937260"/>
            <a:ext cx="6198489" cy="4983480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88B153-0B3C-4C20-A3CD-6A640A1B5E51}" type="datetimeFigureOut">
              <a:rPr lang="en-ZA" smtClean="0"/>
              <a:t>2025/06/05</a:t>
            </a:fld>
            <a:endParaRPr lang="en-Z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3085E0-A071-4845-876E-B0329E82240F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370798725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231136" y="964692"/>
            <a:ext cx="7729728" cy="1188720"/>
          </a:xfrm>
          <a:prstGeom prst="rect">
            <a:avLst/>
          </a:prstGeom>
          <a:solidFill>
            <a:schemeClr val="bg1"/>
          </a:solidFill>
          <a:ln w="31750" cap="sq">
            <a:solidFill>
              <a:schemeClr val="tx1">
                <a:lumMod val="75000"/>
                <a:lumOff val="25000"/>
              </a:schemeClr>
            </a:solidFill>
            <a:miter lim="800000"/>
          </a:ln>
        </p:spPr>
        <p:txBody>
          <a:bodyPr vert="horz" lIns="182880" tIns="182880" rIns="182880" bIns="18288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231136" y="2638044"/>
            <a:ext cx="7729728" cy="310198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821429" y="6238816"/>
            <a:ext cx="2753746" cy="32396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alpha val="70000"/>
                  </a:schemeClr>
                </a:solidFill>
              </a:defRPr>
            </a:lvl1pPr>
          </a:lstStyle>
          <a:p>
            <a:fld id="{1788B153-0B3C-4C20-A3CD-6A640A1B5E51}" type="datetimeFigureOut">
              <a:rPr lang="en-ZA" smtClean="0"/>
              <a:t>2025/06/05</a:t>
            </a:fld>
            <a:endParaRPr lang="en-Z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600200" y="6236208"/>
            <a:ext cx="5901189" cy="32004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0">
                <a:solidFill>
                  <a:schemeClr val="tx1">
                    <a:alpha val="70000"/>
                  </a:schemeClr>
                </a:solidFill>
              </a:defRPr>
            </a:lvl1pPr>
          </a:lstStyle>
          <a:p>
            <a:endParaRPr lang="en-ZA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758922" y="6217920"/>
            <a:ext cx="365760" cy="365760"/>
          </a:xfrm>
          <a:prstGeom prst="ellipse">
            <a:avLst/>
          </a:prstGeom>
          <a:solidFill>
            <a:srgbClr val="1D1D1D">
              <a:alpha val="70000"/>
            </a:srgbClr>
          </a:solidFill>
        </p:spPr>
        <p:txBody>
          <a:bodyPr vert="horz" lIns="18288" tIns="45720" rIns="18288" bIns="45720" rtlCol="0" anchor="ctr">
            <a:noAutofit/>
          </a:bodyPr>
          <a:lstStyle>
            <a:lvl1pPr algn="ctr">
              <a:defRPr sz="1100" spc="0" baseline="0">
                <a:solidFill>
                  <a:srgbClr val="FFFFFF"/>
                </a:solidFill>
              </a:defRPr>
            </a:lvl1pPr>
          </a:lstStyle>
          <a:p>
            <a:fld id="{9E3085E0-A071-4845-876E-B0329E82240F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392144174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58" r:id="rId1"/>
    <p:sldLayoutId id="2147483759" r:id="rId2"/>
    <p:sldLayoutId id="2147483760" r:id="rId3"/>
    <p:sldLayoutId id="2147483761" r:id="rId4"/>
    <p:sldLayoutId id="2147483762" r:id="rId5"/>
    <p:sldLayoutId id="2147483763" r:id="rId6"/>
    <p:sldLayoutId id="2147483764" r:id="rId7"/>
    <p:sldLayoutId id="2147483765" r:id="rId8"/>
    <p:sldLayoutId id="2147483766" r:id="rId9"/>
    <p:sldLayoutId id="2147483767" r:id="rId10"/>
    <p:sldLayoutId id="2147483768" r:id="rId11"/>
  </p:sldLayoutIdLst>
  <p:txStyles>
    <p:titleStyle>
      <a:lvl1pPr algn="ctr" defTabSz="914400" rtl="0" eaLnBrk="1" latinLnBrk="0" hangingPunct="1">
        <a:lnSpc>
          <a:spcPct val="90000"/>
        </a:lnSpc>
        <a:spcBef>
          <a:spcPct val="0"/>
        </a:spcBef>
        <a:buNone/>
        <a:defRPr sz="2800" kern="1200" cap="all" spc="200" baseline="0">
          <a:solidFill>
            <a:schemeClr val="tx1">
              <a:lumMod val="85000"/>
              <a:lumOff val="15000"/>
            </a:schemeClr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8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1pPr>
      <a:lvl2pPr marL="45720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2pPr>
      <a:lvl3pPr marL="68580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3pPr>
      <a:lvl4pPr marL="91440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4pPr>
      <a:lvl5pPr marL="114300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5pPr>
      <a:lvl6pPr marL="1312863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6pPr>
      <a:lvl7pPr marL="1484313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7pPr>
      <a:lvl8pPr marL="165735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 baseline="0">
          <a:solidFill>
            <a:schemeClr val="tx1"/>
          </a:solidFill>
          <a:latin typeface="+mn-lt"/>
          <a:ea typeface="+mn-ea"/>
          <a:cs typeface="+mn-cs"/>
        </a:defRPr>
      </a:lvl8pPr>
      <a:lvl9pPr marL="1882775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 baseline="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hyperlink" Target="mailto:yvelebayi@gmail.com" TargetMode="Externa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2.png"/><Relationship Id="rId13" Type="http://schemas.openxmlformats.org/officeDocument/2006/relationships/image" Target="../media/image7.svg"/><Relationship Id="rId18" Type="http://schemas.openxmlformats.org/officeDocument/2006/relationships/image" Target="../media/image12.png"/><Relationship Id="rId3" Type="http://schemas.openxmlformats.org/officeDocument/2006/relationships/diagramData" Target="../diagrams/data1.xml"/><Relationship Id="rId21" Type="http://schemas.openxmlformats.org/officeDocument/2006/relationships/image" Target="../media/image15.svg"/><Relationship Id="rId7" Type="http://schemas.microsoft.com/office/2007/relationships/diagramDrawing" Target="../diagrams/drawing1.xml"/><Relationship Id="rId12" Type="http://schemas.openxmlformats.org/officeDocument/2006/relationships/image" Target="../media/image6.png"/><Relationship Id="rId17" Type="http://schemas.openxmlformats.org/officeDocument/2006/relationships/image" Target="../media/image11.svg"/><Relationship Id="rId2" Type="http://schemas.openxmlformats.org/officeDocument/2006/relationships/notesSlide" Target="../notesSlides/notesSlide2.xml"/><Relationship Id="rId16" Type="http://schemas.openxmlformats.org/officeDocument/2006/relationships/image" Target="../media/image10.png"/><Relationship Id="rId20" Type="http://schemas.openxmlformats.org/officeDocument/2006/relationships/image" Target="../media/image14.png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1.xml"/><Relationship Id="rId11" Type="http://schemas.openxmlformats.org/officeDocument/2006/relationships/image" Target="../media/image5.svg"/><Relationship Id="rId24" Type="http://schemas.openxmlformats.org/officeDocument/2006/relationships/image" Target="../media/image1.png"/><Relationship Id="rId5" Type="http://schemas.openxmlformats.org/officeDocument/2006/relationships/diagramQuickStyle" Target="../diagrams/quickStyle1.xml"/><Relationship Id="rId15" Type="http://schemas.openxmlformats.org/officeDocument/2006/relationships/image" Target="../media/image9.svg"/><Relationship Id="rId23" Type="http://schemas.openxmlformats.org/officeDocument/2006/relationships/image" Target="../media/image17.svg"/><Relationship Id="rId10" Type="http://schemas.openxmlformats.org/officeDocument/2006/relationships/image" Target="../media/image4.png"/><Relationship Id="rId19" Type="http://schemas.openxmlformats.org/officeDocument/2006/relationships/image" Target="../media/image13.svg"/><Relationship Id="rId4" Type="http://schemas.openxmlformats.org/officeDocument/2006/relationships/diagramLayout" Target="../diagrams/layout1.xml"/><Relationship Id="rId9" Type="http://schemas.openxmlformats.org/officeDocument/2006/relationships/image" Target="../media/image3.svg"/><Relationship Id="rId14" Type="http://schemas.openxmlformats.org/officeDocument/2006/relationships/image" Target="../media/image8.png"/><Relationship Id="rId22" Type="http://schemas.openxmlformats.org/officeDocument/2006/relationships/image" Target="../media/image16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53849" y="464695"/>
            <a:ext cx="9203961" cy="2964305"/>
          </a:xfrm>
          <a:solidFill>
            <a:schemeClr val="bg1"/>
          </a:solidFill>
        </p:spPr>
        <p:txBody>
          <a:bodyPr>
            <a:noAutofit/>
          </a:bodyPr>
          <a:lstStyle/>
          <a:p>
            <a:r>
              <a:rPr lang="en-ZA" sz="4400" dirty="0"/>
              <a:t>Predictive Analysis of Medical Insurance Payment Durations in South Africa: A Case of LA Health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452C3B18-52E7-4284-AC10-7EA92B67E4E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231136" y="3582424"/>
            <a:ext cx="7729728" cy="3101983"/>
          </a:xfrm>
        </p:spPr>
        <p:txBody>
          <a:bodyPr>
            <a:normAutofit lnSpcReduction="10000"/>
          </a:bodyPr>
          <a:lstStyle/>
          <a:p>
            <a:pPr marL="0" indent="0" algn="ctr">
              <a:buNone/>
            </a:pPr>
            <a:r>
              <a:rPr lang="en-ZA" b="1" dirty="0"/>
              <a:t>By</a:t>
            </a:r>
          </a:p>
          <a:p>
            <a:pPr marL="0" indent="0" algn="ctr">
              <a:buNone/>
            </a:pPr>
            <a:endParaRPr lang="en-ZA" b="1" dirty="0"/>
          </a:p>
          <a:p>
            <a:pPr marL="0" indent="0" algn="ctr">
              <a:buNone/>
            </a:pPr>
            <a:r>
              <a:rPr lang="en-ZA" b="1" dirty="0">
                <a:solidFill>
                  <a:schemeClr val="tx1"/>
                </a:solidFill>
              </a:rPr>
              <a:t>Yolisa Velebayi </a:t>
            </a:r>
          </a:p>
          <a:p>
            <a:pPr marL="0" indent="0" algn="ctr">
              <a:buNone/>
            </a:pPr>
            <a:r>
              <a:rPr lang="en-ZA" b="1" dirty="0">
                <a:solidFill>
                  <a:schemeClr val="tx1"/>
                </a:solidFill>
              </a:rPr>
              <a:t>Student number: 3339298</a:t>
            </a:r>
          </a:p>
          <a:p>
            <a:pPr marL="0" indent="0" algn="ctr">
              <a:buNone/>
            </a:pPr>
            <a:r>
              <a:rPr lang="en-ZA" b="1" dirty="0">
                <a:solidFill>
                  <a:schemeClr val="tx1"/>
                </a:solidFill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Email: yvelebayi@gmail.com</a:t>
            </a:r>
            <a:endParaRPr lang="en-ZA" b="1" dirty="0">
              <a:solidFill>
                <a:schemeClr val="tx1"/>
              </a:solidFill>
            </a:endParaRPr>
          </a:p>
          <a:p>
            <a:pPr marL="0" indent="0" algn="ctr">
              <a:buNone/>
            </a:pPr>
            <a:r>
              <a:rPr lang="en-ZA" b="1" dirty="0">
                <a:solidFill>
                  <a:schemeClr val="tx1"/>
                </a:solidFill>
              </a:rPr>
              <a:t>Cell: 0637087161</a:t>
            </a:r>
          </a:p>
          <a:p>
            <a:pPr marL="0" indent="0" algn="ctr">
              <a:buNone/>
            </a:pPr>
            <a:endParaRPr lang="en-ZA" b="1" dirty="0">
              <a:solidFill>
                <a:schemeClr val="tx1"/>
              </a:solidFill>
            </a:endParaRPr>
          </a:p>
          <a:p>
            <a:pPr marL="0" indent="0" algn="ctr">
              <a:buNone/>
            </a:pPr>
            <a:r>
              <a:rPr lang="en-ZA" b="1" dirty="0">
                <a:solidFill>
                  <a:schemeClr val="tx1"/>
                </a:solidFill>
              </a:rPr>
              <a:t>Supervisor: Dr Johan Breytenbach</a:t>
            </a:r>
          </a:p>
        </p:txBody>
      </p:sp>
      <p:pic>
        <p:nvPicPr>
          <p:cNvPr id="8194" name="Picture 2" descr="Home | UWC">
            <a:extLst>
              <a:ext uri="{FF2B5EF4-FFF2-40B4-BE49-F238E27FC236}">
                <a16:creationId xmlns:a16="http://schemas.microsoft.com/office/drawing/2014/main" id="{1A2335BB-02FE-485C-BC84-653AAB41C6B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957810" y="5696408"/>
            <a:ext cx="1234190" cy="116159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83188848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Diagram 3">
            <a:extLst>
              <a:ext uri="{FF2B5EF4-FFF2-40B4-BE49-F238E27FC236}">
                <a16:creationId xmlns:a16="http://schemas.microsoft.com/office/drawing/2014/main" id="{5C7FBC61-2F01-4740-8813-92C55935CCCA}"/>
              </a:ext>
            </a:extLst>
          </p:cNvPr>
          <p:cNvGraphicFramePr/>
          <p:nvPr/>
        </p:nvGraphicFramePr>
        <p:xfrm>
          <a:off x="671491" y="916280"/>
          <a:ext cx="10849019" cy="5753704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pic>
        <p:nvPicPr>
          <p:cNvPr id="9" name="Graphic 8" descr="Questions">
            <a:extLst>
              <a:ext uri="{FF2B5EF4-FFF2-40B4-BE49-F238E27FC236}">
                <a16:creationId xmlns:a16="http://schemas.microsoft.com/office/drawing/2014/main" id="{6A210C87-9F14-7640-A22C-CB4DF8912CDF}"/>
              </a:ext>
            </a:extLst>
          </p:cNvPr>
          <p:cNvPicPr>
            <a:picLocks noChangeAspect="1"/>
          </p:cNvPicPr>
          <p:nvPr/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815340" y="2346242"/>
            <a:ext cx="1097280" cy="1097280"/>
          </a:xfrm>
          <a:prstGeom prst="rect">
            <a:avLst/>
          </a:prstGeom>
        </p:spPr>
      </p:pic>
      <p:pic>
        <p:nvPicPr>
          <p:cNvPr id="11" name="Graphic 10" descr="Target Audience">
            <a:extLst>
              <a:ext uri="{FF2B5EF4-FFF2-40B4-BE49-F238E27FC236}">
                <a16:creationId xmlns:a16="http://schemas.microsoft.com/office/drawing/2014/main" id="{002B24AB-8577-0747-AE63-F43F183AA1B7}"/>
              </a:ext>
            </a:extLst>
          </p:cNvPr>
          <p:cNvPicPr>
            <a:picLocks noChangeAspect="1"/>
          </p:cNvPicPr>
          <p:nvPr/>
        </p:nvPicPr>
        <p:blipFill>
          <a:blip r:embed="rId10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2216792" y="4222914"/>
            <a:ext cx="1097280" cy="1097280"/>
          </a:xfrm>
          <a:prstGeom prst="rect">
            <a:avLst/>
          </a:prstGeom>
        </p:spPr>
      </p:pic>
      <p:pic>
        <p:nvPicPr>
          <p:cNvPr id="19" name="Graphic 18" descr="Books">
            <a:extLst>
              <a:ext uri="{FF2B5EF4-FFF2-40B4-BE49-F238E27FC236}">
                <a16:creationId xmlns:a16="http://schemas.microsoft.com/office/drawing/2014/main" id="{5F029E70-24C2-8D41-A11E-7CC0C38E997D}"/>
              </a:ext>
            </a:extLst>
          </p:cNvPr>
          <p:cNvPicPr>
            <a:picLocks noChangeAspect="1"/>
          </p:cNvPicPr>
          <p:nvPr/>
        </p:nvPicPr>
        <p:blipFill>
          <a:blip r:embed="rId12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>
            <a:off x="3552892" y="2377502"/>
            <a:ext cx="1097280" cy="1097280"/>
          </a:xfrm>
          <a:prstGeom prst="rect">
            <a:avLst/>
          </a:prstGeom>
        </p:spPr>
      </p:pic>
      <p:pic>
        <p:nvPicPr>
          <p:cNvPr id="21" name="Graphic 20" descr="Test tubes">
            <a:extLst>
              <a:ext uri="{FF2B5EF4-FFF2-40B4-BE49-F238E27FC236}">
                <a16:creationId xmlns:a16="http://schemas.microsoft.com/office/drawing/2014/main" id="{CFDE6583-8C8B-3B49-BC98-C410E8955A4F}"/>
              </a:ext>
            </a:extLst>
          </p:cNvPr>
          <p:cNvPicPr>
            <a:picLocks noChangeAspect="1"/>
          </p:cNvPicPr>
          <p:nvPr/>
        </p:nvPicPr>
        <p:blipFill>
          <a:blip r:embed="rId14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5"/>
              </a:ext>
            </a:extLst>
          </a:blip>
          <a:stretch>
            <a:fillRect/>
          </a:stretch>
        </p:blipFill>
        <p:spPr>
          <a:xfrm>
            <a:off x="4859375" y="4222914"/>
            <a:ext cx="1097280" cy="1097280"/>
          </a:xfrm>
          <a:prstGeom prst="rect">
            <a:avLst/>
          </a:prstGeom>
        </p:spPr>
      </p:pic>
      <p:pic>
        <p:nvPicPr>
          <p:cNvPr id="27" name="Graphic 26" descr="Person with idea">
            <a:extLst>
              <a:ext uri="{FF2B5EF4-FFF2-40B4-BE49-F238E27FC236}">
                <a16:creationId xmlns:a16="http://schemas.microsoft.com/office/drawing/2014/main" id="{31421C55-BA62-7346-A0A9-A74B6742D77E}"/>
              </a:ext>
            </a:extLst>
          </p:cNvPr>
          <p:cNvPicPr>
            <a:picLocks noChangeAspect="1"/>
          </p:cNvPicPr>
          <p:nvPr/>
        </p:nvPicPr>
        <p:blipFill>
          <a:blip r:embed="rId16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7"/>
              </a:ext>
            </a:extLst>
          </a:blip>
          <a:stretch>
            <a:fillRect/>
          </a:stretch>
        </p:blipFill>
        <p:spPr>
          <a:xfrm>
            <a:off x="9975208" y="4222914"/>
            <a:ext cx="1097280" cy="1097280"/>
          </a:xfrm>
          <a:prstGeom prst="rect">
            <a:avLst/>
          </a:prstGeom>
        </p:spPr>
      </p:pic>
      <p:pic>
        <p:nvPicPr>
          <p:cNvPr id="29" name="Graphic 28" descr="Statistics">
            <a:extLst>
              <a:ext uri="{FF2B5EF4-FFF2-40B4-BE49-F238E27FC236}">
                <a16:creationId xmlns:a16="http://schemas.microsoft.com/office/drawing/2014/main" id="{CB3C4E6D-CF63-874A-B717-F391CF9FF8AA}"/>
              </a:ext>
            </a:extLst>
          </p:cNvPr>
          <p:cNvPicPr>
            <a:picLocks noChangeAspect="1"/>
          </p:cNvPicPr>
          <p:nvPr/>
        </p:nvPicPr>
        <p:blipFill>
          <a:blip r:embed="rId18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9"/>
              </a:ext>
            </a:extLst>
          </a:blip>
          <a:stretch>
            <a:fillRect/>
          </a:stretch>
        </p:blipFill>
        <p:spPr>
          <a:xfrm>
            <a:off x="8684291" y="2411746"/>
            <a:ext cx="1097280" cy="1097280"/>
          </a:xfrm>
          <a:prstGeom prst="rect">
            <a:avLst/>
          </a:prstGeom>
        </p:spPr>
      </p:pic>
      <p:pic>
        <p:nvPicPr>
          <p:cNvPr id="31" name="Graphic 30" descr="Presentation with bar chart">
            <a:extLst>
              <a:ext uri="{FF2B5EF4-FFF2-40B4-BE49-F238E27FC236}">
                <a16:creationId xmlns:a16="http://schemas.microsoft.com/office/drawing/2014/main" id="{02DB0769-23B0-4140-9BD3-05F2A6E0E24C}"/>
              </a:ext>
            </a:extLst>
          </p:cNvPr>
          <p:cNvPicPr>
            <a:picLocks noChangeAspect="1"/>
          </p:cNvPicPr>
          <p:nvPr/>
        </p:nvPicPr>
        <p:blipFill>
          <a:blip r:embed="rId20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1"/>
              </a:ext>
            </a:extLst>
          </a:blip>
          <a:stretch>
            <a:fillRect/>
          </a:stretch>
        </p:blipFill>
        <p:spPr>
          <a:xfrm>
            <a:off x="7501957" y="4222914"/>
            <a:ext cx="1097280" cy="1097280"/>
          </a:xfrm>
          <a:prstGeom prst="rect">
            <a:avLst/>
          </a:prstGeom>
        </p:spPr>
      </p:pic>
      <p:pic>
        <p:nvPicPr>
          <p:cNvPr id="33" name="Graphic 32" descr="Workflow">
            <a:extLst>
              <a:ext uri="{FF2B5EF4-FFF2-40B4-BE49-F238E27FC236}">
                <a16:creationId xmlns:a16="http://schemas.microsoft.com/office/drawing/2014/main" id="{C09FE50A-D150-2448-9C1C-8D4DD68172E6}"/>
              </a:ext>
            </a:extLst>
          </p:cNvPr>
          <p:cNvPicPr>
            <a:picLocks noChangeAspect="1"/>
          </p:cNvPicPr>
          <p:nvPr/>
        </p:nvPicPr>
        <p:blipFill>
          <a:blip r:embed="rId22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3"/>
              </a:ext>
            </a:extLst>
          </a:blip>
          <a:stretch>
            <a:fillRect/>
          </a:stretch>
        </p:blipFill>
        <p:spPr>
          <a:xfrm>
            <a:off x="6095999" y="2331720"/>
            <a:ext cx="1097280" cy="1097280"/>
          </a:xfrm>
          <a:prstGeom prst="rect">
            <a:avLst/>
          </a:prstGeom>
        </p:spPr>
      </p:pic>
      <p:sp>
        <p:nvSpPr>
          <p:cNvPr id="5" name="Title 4">
            <a:extLst>
              <a:ext uri="{FF2B5EF4-FFF2-40B4-BE49-F238E27FC236}">
                <a16:creationId xmlns:a16="http://schemas.microsoft.com/office/drawing/2014/main" id="{26F9293D-1BA2-4D60-9E42-D42BE4FF865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169822" y="188016"/>
            <a:ext cx="7729728" cy="1188720"/>
          </a:xfrm>
          <a:solidFill>
            <a:schemeClr val="tx2">
              <a:lumMod val="20000"/>
              <a:lumOff val="80000"/>
            </a:schemeClr>
          </a:solidFill>
        </p:spPr>
        <p:txBody>
          <a:bodyPr/>
          <a:lstStyle/>
          <a:p>
            <a:pPr algn="ctr"/>
            <a:r>
              <a:rPr lang="en-ZA" dirty="0"/>
              <a:t>AGENDA</a:t>
            </a:r>
          </a:p>
        </p:txBody>
      </p:sp>
      <p:pic>
        <p:nvPicPr>
          <p:cNvPr id="14" name="Picture 2" descr="Home | UWC">
            <a:extLst>
              <a:ext uri="{FF2B5EF4-FFF2-40B4-BE49-F238E27FC236}">
                <a16:creationId xmlns:a16="http://schemas.microsoft.com/office/drawing/2014/main" id="{53FF7D92-E600-40DE-ABDB-C5F1F077328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957810" y="5696408"/>
            <a:ext cx="1234190" cy="116159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53545877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A309A2B-D421-44EA-83B6-158BA5FB067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22953" y="232348"/>
            <a:ext cx="9546093" cy="1079292"/>
          </a:xfrm>
          <a:solidFill>
            <a:schemeClr val="tx2">
              <a:lumMod val="20000"/>
              <a:lumOff val="80000"/>
            </a:schemeClr>
          </a:solidFill>
        </p:spPr>
        <p:txBody>
          <a:bodyPr/>
          <a:lstStyle/>
          <a:p>
            <a:r>
              <a:rPr lang="en-ZA" dirty="0"/>
              <a:t>Business question and research objectives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EA1A7B2-085C-48D3-B1FC-7D72A964EA2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77318" y="1633704"/>
            <a:ext cx="11637364" cy="4991948"/>
          </a:xfrm>
        </p:spPr>
        <p:txBody>
          <a:bodyPr>
            <a:normAutofit/>
          </a:bodyPr>
          <a:lstStyle/>
          <a:p>
            <a:pPr marL="0" indent="0">
              <a:buClr>
                <a:schemeClr val="tx1"/>
              </a:buClr>
              <a:buNone/>
            </a:pPr>
            <a:r>
              <a:rPr lang="en-ZA" b="1" dirty="0">
                <a:solidFill>
                  <a:schemeClr val="tx1"/>
                </a:solidFill>
              </a:rPr>
              <a:t>Primary Question:</a:t>
            </a:r>
            <a:br>
              <a:rPr lang="en-ZA" dirty="0">
                <a:solidFill>
                  <a:schemeClr val="tx1"/>
                </a:solidFill>
              </a:rPr>
            </a:br>
            <a:r>
              <a:rPr lang="en-ZA" dirty="0">
                <a:solidFill>
                  <a:schemeClr val="tx1"/>
                </a:solidFill>
              </a:rPr>
              <a:t>What determines the time frame for processing private medical insurance payments in South Africa?</a:t>
            </a:r>
          </a:p>
          <a:p>
            <a:pPr>
              <a:buClr>
                <a:schemeClr val="tx1"/>
              </a:buClr>
            </a:pPr>
            <a:endParaRPr lang="en-ZA" dirty="0">
              <a:solidFill>
                <a:schemeClr val="tx1"/>
              </a:solidFill>
            </a:endParaRPr>
          </a:p>
          <a:p>
            <a:pPr marL="0" indent="0">
              <a:buClr>
                <a:schemeClr val="tx1"/>
              </a:buClr>
              <a:buNone/>
            </a:pPr>
            <a:r>
              <a:rPr lang="en-ZA" b="1" dirty="0">
                <a:solidFill>
                  <a:schemeClr val="tx1"/>
                </a:solidFill>
              </a:rPr>
              <a:t>Additional Questions:</a:t>
            </a:r>
            <a:endParaRPr lang="en-ZA" dirty="0">
              <a:solidFill>
                <a:schemeClr val="tx1"/>
              </a:solidFill>
            </a:endParaRPr>
          </a:p>
          <a:p>
            <a:pPr>
              <a:buClr>
                <a:schemeClr val="tx1"/>
              </a:buClr>
            </a:pPr>
            <a:r>
              <a:rPr lang="en-ZA" dirty="0">
                <a:solidFill>
                  <a:schemeClr val="tx1"/>
                </a:solidFill>
              </a:rPr>
              <a:t>How reliable are payment-duration predictions using claim and financial data?</a:t>
            </a:r>
          </a:p>
          <a:p>
            <a:pPr>
              <a:buClr>
                <a:schemeClr val="tx1"/>
              </a:buClr>
            </a:pPr>
            <a:r>
              <a:rPr lang="en-ZA" dirty="0">
                <a:solidFill>
                  <a:schemeClr val="tx1"/>
                </a:solidFill>
              </a:rPr>
              <a:t>Are payment times influenced by PMB status, contract status, or medical plan?</a:t>
            </a:r>
          </a:p>
          <a:p>
            <a:pPr>
              <a:buClr>
                <a:schemeClr val="tx1"/>
              </a:buClr>
            </a:pPr>
            <a:endParaRPr lang="en-ZA" dirty="0">
              <a:solidFill>
                <a:schemeClr val="tx1"/>
              </a:solidFill>
            </a:endParaRPr>
          </a:p>
          <a:p>
            <a:pPr>
              <a:buClr>
                <a:schemeClr val="tx1"/>
              </a:buClr>
            </a:pPr>
            <a:r>
              <a:rPr lang="en-ZA" b="1" dirty="0">
                <a:solidFill>
                  <a:schemeClr val="tx1"/>
                </a:solidFill>
              </a:rPr>
              <a:t>Objectives:</a:t>
            </a:r>
            <a:endParaRPr lang="en-ZA" dirty="0">
              <a:solidFill>
                <a:schemeClr val="tx1"/>
              </a:solidFill>
            </a:endParaRPr>
          </a:p>
          <a:p>
            <a:pPr>
              <a:buClr>
                <a:schemeClr val="tx1"/>
              </a:buClr>
            </a:pPr>
            <a:r>
              <a:rPr lang="en-ZA" dirty="0">
                <a:solidFill>
                  <a:schemeClr val="tx1"/>
                </a:solidFill>
              </a:rPr>
              <a:t>Identify the factors influencing claim payment speed</a:t>
            </a:r>
          </a:p>
          <a:p>
            <a:pPr>
              <a:buClr>
                <a:schemeClr val="tx1"/>
              </a:buClr>
            </a:pPr>
            <a:r>
              <a:rPr lang="en-ZA" dirty="0">
                <a:solidFill>
                  <a:schemeClr val="tx1"/>
                </a:solidFill>
              </a:rPr>
              <a:t>Develop a predictive model for payment duration</a:t>
            </a:r>
          </a:p>
          <a:p>
            <a:pPr>
              <a:buClr>
                <a:schemeClr val="tx1"/>
              </a:buClr>
            </a:pPr>
            <a:r>
              <a:rPr lang="en-ZA" dirty="0">
                <a:solidFill>
                  <a:schemeClr val="tx1"/>
                </a:solidFill>
              </a:rPr>
              <a:t>Provide actionable insights to improve claims processing</a:t>
            </a:r>
          </a:p>
          <a:p>
            <a:pPr>
              <a:buClr>
                <a:schemeClr val="tx1"/>
              </a:buClr>
            </a:pPr>
            <a:r>
              <a:rPr lang="en-ZA" dirty="0">
                <a:solidFill>
                  <a:schemeClr val="tx1"/>
                </a:solidFill>
              </a:rPr>
              <a:t>Inform how private insurance may adapt under the National Health Insurance (NHI) framework</a:t>
            </a:r>
          </a:p>
          <a:p>
            <a:endParaRPr lang="en-ZA" dirty="0"/>
          </a:p>
        </p:txBody>
      </p:sp>
      <p:pic>
        <p:nvPicPr>
          <p:cNvPr id="4" name="Picture 2" descr="Home | UWC">
            <a:extLst>
              <a:ext uri="{FF2B5EF4-FFF2-40B4-BE49-F238E27FC236}">
                <a16:creationId xmlns:a16="http://schemas.microsoft.com/office/drawing/2014/main" id="{F366B5C0-90B4-4650-A03C-BEF3ADD81B3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957810" y="5696408"/>
            <a:ext cx="1234190" cy="116159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97172701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31136" y="298197"/>
            <a:ext cx="7729728" cy="1188720"/>
          </a:xfrm>
          <a:solidFill>
            <a:schemeClr val="tx2">
              <a:lumMod val="20000"/>
              <a:lumOff val="80000"/>
            </a:schemeClr>
          </a:solidFill>
        </p:spPr>
        <p:txBody>
          <a:bodyPr/>
          <a:lstStyle/>
          <a:p>
            <a:r>
              <a:rPr lang="en-ZA" dirty="0"/>
              <a:t>Introduction to business problem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59895" y="1858780"/>
            <a:ext cx="11872210" cy="4032354"/>
          </a:xfrm>
        </p:spPr>
        <p:txBody>
          <a:bodyPr/>
          <a:lstStyle/>
          <a:p>
            <a:pPr>
              <a:buClrTx/>
            </a:pPr>
            <a:r>
              <a:rPr lang="en-ZA" b="1" dirty="0"/>
              <a:t>Problem:</a:t>
            </a:r>
            <a:br>
              <a:rPr lang="en-ZA" dirty="0"/>
            </a:br>
            <a:r>
              <a:rPr lang="en-ZA" dirty="0"/>
              <a:t>Claim payment delays are inconsistent and unpredictable. These delays affect the financial stability of healthcare providers, especially smaller ones, and strain both insurers and patients. On-time payments are vital for maintaining provider trust and operational efficiency.</a:t>
            </a:r>
          </a:p>
          <a:p>
            <a:endParaRPr lang="en-ZA" dirty="0"/>
          </a:p>
          <a:p>
            <a:pPr>
              <a:buClrTx/>
            </a:pPr>
            <a:r>
              <a:rPr lang="en-ZA" b="1" dirty="0"/>
              <a:t>Context:</a:t>
            </a:r>
            <a:br>
              <a:rPr lang="en-ZA" dirty="0"/>
            </a:br>
            <a:r>
              <a:rPr lang="en-ZA" dirty="0"/>
              <a:t>With the implementation of NHI on the horizon, private insurers must demonstrate efficient claims handling. Timeliness in claims processing will be a key performance indicator in the integrated health system.</a:t>
            </a:r>
          </a:p>
          <a:p>
            <a:endParaRPr lang="en-ZA" dirty="0"/>
          </a:p>
          <a:p>
            <a:pPr>
              <a:buClrTx/>
            </a:pPr>
            <a:r>
              <a:rPr lang="en-ZA" b="1" dirty="0"/>
              <a:t>Business Need:</a:t>
            </a:r>
            <a:br>
              <a:rPr lang="en-ZA" dirty="0"/>
            </a:br>
            <a:r>
              <a:rPr lang="en-ZA" dirty="0"/>
              <a:t>LA Health must understand and address payment delays to improve its operations and ensure readiness for integration with the future NHI system.</a:t>
            </a:r>
          </a:p>
        </p:txBody>
      </p:sp>
      <p:pic>
        <p:nvPicPr>
          <p:cNvPr id="4" name="Picture 2" descr="Home | UWC">
            <a:extLst>
              <a:ext uri="{FF2B5EF4-FFF2-40B4-BE49-F238E27FC236}">
                <a16:creationId xmlns:a16="http://schemas.microsoft.com/office/drawing/2014/main" id="{8E39707F-94E6-4FB6-8280-6FE94C069FF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957810" y="5696408"/>
            <a:ext cx="1234190" cy="116159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98663595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31136" y="337280"/>
            <a:ext cx="7729728" cy="1188720"/>
          </a:xfrm>
          <a:solidFill>
            <a:schemeClr val="tx2">
              <a:lumMod val="20000"/>
              <a:lumOff val="80000"/>
            </a:schemeClr>
          </a:solidFill>
        </p:spPr>
        <p:txBody>
          <a:bodyPr/>
          <a:lstStyle/>
          <a:p>
            <a:r>
              <a:rPr lang="en-ZA" dirty="0"/>
              <a:t>Literature review / existing solutions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69757" y="1858780"/>
            <a:ext cx="11452485" cy="4062333"/>
          </a:xfrm>
        </p:spPr>
        <p:txBody>
          <a:bodyPr/>
          <a:lstStyle/>
          <a:p>
            <a:pPr>
              <a:lnSpc>
                <a:spcPct val="150000"/>
              </a:lnSpc>
              <a:buClrTx/>
            </a:pPr>
            <a:r>
              <a:rPr lang="en-ZA" b="1" dirty="0"/>
              <a:t>Administrative Delays</a:t>
            </a:r>
            <a:r>
              <a:rPr lang="en-ZA" dirty="0"/>
              <a:t>: Caused by missing documents and manual processing. Solutions include automation and digital transformation.</a:t>
            </a:r>
          </a:p>
          <a:p>
            <a:pPr>
              <a:lnSpc>
                <a:spcPct val="150000"/>
              </a:lnSpc>
              <a:buClrTx/>
            </a:pPr>
            <a:r>
              <a:rPr lang="en-ZA" b="1" dirty="0"/>
              <a:t>Provider Contracting</a:t>
            </a:r>
            <a:r>
              <a:rPr lang="en-ZA" dirty="0"/>
              <a:t>: Contracted providers tend to receive payments faster due to streamlined processes.</a:t>
            </a:r>
          </a:p>
          <a:p>
            <a:pPr>
              <a:lnSpc>
                <a:spcPct val="150000"/>
              </a:lnSpc>
              <a:buClrTx/>
            </a:pPr>
            <a:r>
              <a:rPr lang="en-ZA" b="1" dirty="0"/>
              <a:t>Regulatory Gaps</a:t>
            </a:r>
            <a:r>
              <a:rPr lang="en-ZA" dirty="0"/>
              <a:t>: The industry lacks standardization in claims processing; improved transparency is recommended.</a:t>
            </a:r>
          </a:p>
          <a:p>
            <a:pPr>
              <a:lnSpc>
                <a:spcPct val="150000"/>
              </a:lnSpc>
              <a:buClrTx/>
            </a:pPr>
            <a:r>
              <a:rPr lang="en-ZA" b="1" dirty="0"/>
              <a:t>Patient Experience</a:t>
            </a:r>
            <a:r>
              <a:rPr lang="en-ZA" dirty="0"/>
              <a:t>: Delays undermine trust and impose financial stress.</a:t>
            </a:r>
          </a:p>
          <a:p>
            <a:pPr>
              <a:lnSpc>
                <a:spcPct val="150000"/>
              </a:lnSpc>
              <a:buClrTx/>
            </a:pPr>
            <a:r>
              <a:rPr lang="en-ZA" b="1" dirty="0"/>
              <a:t>NHI Transition</a:t>
            </a:r>
            <a:r>
              <a:rPr lang="en-ZA" dirty="0"/>
              <a:t>: Inefficiencies in the current system should inform the design of future universal health coverage models.</a:t>
            </a:r>
            <a:endParaRPr dirty="0"/>
          </a:p>
        </p:txBody>
      </p:sp>
      <p:pic>
        <p:nvPicPr>
          <p:cNvPr id="6" name="Picture 2" descr="Home | UWC">
            <a:extLst>
              <a:ext uri="{FF2B5EF4-FFF2-40B4-BE49-F238E27FC236}">
                <a16:creationId xmlns:a16="http://schemas.microsoft.com/office/drawing/2014/main" id="{D59AA7F2-C0DD-4358-992F-4FCF01BB17F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957810" y="5696408"/>
            <a:ext cx="1234190" cy="116159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75886557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31136" y="215184"/>
            <a:ext cx="7729728" cy="849118"/>
          </a:xfrm>
          <a:solidFill>
            <a:schemeClr val="tx2">
              <a:lumMod val="20000"/>
              <a:lumOff val="80000"/>
            </a:schemeClr>
          </a:solidFill>
        </p:spPr>
        <p:txBody>
          <a:bodyPr/>
          <a:lstStyle/>
          <a:p>
            <a:r>
              <a:rPr lang="en-ZA" dirty="0"/>
              <a:t>Research methodology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22FD541F-9E07-4EF6-96B4-64C8736E66E8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167390" y="1064302"/>
            <a:ext cx="11857219" cy="586051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</a:pP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Sourcing Data:</a:t>
            </a:r>
            <a:r>
              <a:rPr lang="en-US" altLang="en-US" dirty="0">
                <a:solidFill>
                  <a:schemeClr val="tx1"/>
                </a:solidFill>
              </a:rPr>
              <a:t> 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Acquired 50,000 invoice records from LA Health, containing payment timelines, patient demographics, provider details, and financial metrics.</a:t>
            </a:r>
          </a:p>
          <a:p>
            <a:pPr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</a:pP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Pre-processing Data:</a:t>
            </a:r>
            <a:r>
              <a:rPr lang="en-US" altLang="en-US" dirty="0">
                <a:solidFill>
                  <a:schemeClr val="tx1"/>
                </a:solidFill>
              </a:rPr>
              <a:t> 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Removed duplicates and outliers; handled missing values using mean imputation and “Unknown” labels; one-hot encoded categorical variables.</a:t>
            </a:r>
          </a:p>
          <a:p>
            <a:pPr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</a:pP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Describing Data Variables:</a:t>
            </a:r>
            <a:r>
              <a:rPr lang="en-US" altLang="en-US" dirty="0">
                <a:solidFill>
                  <a:schemeClr val="tx1"/>
                </a:solidFill>
              </a:rPr>
              <a:t> 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Created a target variable, </a:t>
            </a:r>
            <a:r>
              <a:rPr kumimoji="0" lang="en-US" altLang="en-US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Payment_Duration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, and analyzed key features such as Total Cashflow, Turnover, Age, PMB status, and Contract status.</a:t>
            </a:r>
          </a:p>
          <a:p>
            <a:pPr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</a:pP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Training a Model:</a:t>
            </a:r>
            <a:r>
              <a:rPr lang="en-US" altLang="en-US" dirty="0">
                <a:solidFill>
                  <a:schemeClr val="tx1"/>
                </a:solidFill>
              </a:rPr>
              <a:t> 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Developed five predictive models: Linear Regression, Decision Tree, Gradient Boosting, Lasso, and Random Forest (best-performing model).</a:t>
            </a:r>
          </a:p>
          <a:p>
            <a:pPr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</a:pP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Testing a Model:</a:t>
            </a:r>
            <a:r>
              <a:rPr lang="en-US" altLang="en-US" dirty="0">
                <a:solidFill>
                  <a:schemeClr val="tx1"/>
                </a:solidFill>
              </a:rPr>
              <a:t> 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Used a 70/30 train-test split; evaluated models using MSE, RMSE, MAE, and R²; Random Forest achieved the highest accuracy (R² = 0.189).</a:t>
            </a:r>
          </a:p>
          <a:p>
            <a:pPr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</a:pP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Interpretation of Findings:</a:t>
            </a:r>
            <a:r>
              <a:rPr lang="en-US" altLang="en-US" dirty="0">
                <a:solidFill>
                  <a:schemeClr val="tx1"/>
                </a:solidFill>
              </a:rPr>
              <a:t> 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Delays were longer for PMB and non-contracted claims. Financial and administrative variables were key predictors.</a:t>
            </a:r>
          </a:p>
          <a:p>
            <a:pPr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</a:pP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Discussion:</a:t>
            </a:r>
            <a:r>
              <a:rPr lang="en-US" altLang="en-US" dirty="0">
                <a:solidFill>
                  <a:schemeClr val="tx1"/>
                </a:solidFill>
              </a:rPr>
              <a:t> 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The model moderately predicted payment durations and offered insights that can streamline </a:t>
            </a:r>
            <a:b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</a:b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processing and inform NHI policy readiness.</a:t>
            </a:r>
          </a:p>
        </p:txBody>
      </p:sp>
      <p:pic>
        <p:nvPicPr>
          <p:cNvPr id="5" name="Picture 2" descr="Home | UWC">
            <a:extLst>
              <a:ext uri="{FF2B5EF4-FFF2-40B4-BE49-F238E27FC236}">
                <a16:creationId xmlns:a16="http://schemas.microsoft.com/office/drawing/2014/main" id="{B9120AD9-6B97-4DA1-967A-9162FF8A1BA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957810" y="5696408"/>
            <a:ext cx="1234190" cy="116159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74672526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31136" y="370332"/>
            <a:ext cx="7729728" cy="1188720"/>
          </a:xfrm>
          <a:solidFill>
            <a:schemeClr val="tx2">
              <a:lumMod val="20000"/>
              <a:lumOff val="80000"/>
            </a:schemeClr>
          </a:solidFill>
        </p:spPr>
        <p:txBody>
          <a:bodyPr/>
          <a:lstStyle/>
          <a:p>
            <a:r>
              <a:rPr lang="en-ZA" dirty="0"/>
              <a:t>Data: the data that I used explained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ACAD4AA6-6AC8-4393-90DB-C0482C5D2EE2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509665" y="1911186"/>
            <a:ext cx="9556130" cy="33675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</a:pPr>
            <a:r>
              <a:rPr kumimoji="0" lang="en-US" altLang="en-US" sz="1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Initial dataset contained approximately 50,000 invoice records.</a:t>
            </a:r>
          </a:p>
          <a:p>
            <a:pPr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</a:pPr>
            <a:r>
              <a:rPr kumimoji="0" lang="en-US" altLang="en-US" sz="1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After preprocessing (removing duplicates, handling missing values, and outliers), 18,967 cleaned records remained.</a:t>
            </a:r>
          </a:p>
          <a:p>
            <a:pPr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</a:pPr>
            <a:r>
              <a:rPr kumimoji="0" lang="en-US" altLang="en-US" sz="1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Data included patient demographics (age, gender), provider details (contract status, specialty), and claim characteristics (PMB status, service </a:t>
            </a:r>
            <a:r>
              <a:rPr kumimoji="0" lang="en-US" altLang="en-US" sz="180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centre</a:t>
            </a:r>
            <a:r>
              <a:rPr kumimoji="0" lang="en-US" altLang="en-US" sz="1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).</a:t>
            </a:r>
          </a:p>
          <a:p>
            <a:pPr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</a:pPr>
            <a:r>
              <a:rPr kumimoji="0" lang="en-US" altLang="en-US" sz="1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Key financial features: Total Cashflow, Turnover, and Medical Aid Outstanding.</a:t>
            </a:r>
          </a:p>
          <a:p>
            <a:pPr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</a:pPr>
            <a:r>
              <a:rPr kumimoji="0" lang="en-US" altLang="en-US" sz="1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The target variable was </a:t>
            </a:r>
            <a:r>
              <a:rPr kumimoji="0" lang="en-US" altLang="en-US" sz="1800" i="1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Payment_Duration</a:t>
            </a:r>
            <a:r>
              <a:rPr kumimoji="0" lang="en-US" altLang="en-US" sz="1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, calculated </a:t>
            </a:r>
            <a:r>
              <a:rPr lang="en-US" altLang="en-US" dirty="0">
                <a:solidFill>
                  <a:schemeClr val="tx1"/>
                </a:solidFill>
              </a:rPr>
              <a:t>as Latest Capture Date – Earliest Capture Date</a:t>
            </a:r>
            <a:endParaRPr kumimoji="0" lang="en-US" altLang="en-US" sz="180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</p:txBody>
      </p:sp>
      <p:pic>
        <p:nvPicPr>
          <p:cNvPr id="5" name="Picture 2" descr="Home | UWC">
            <a:extLst>
              <a:ext uri="{FF2B5EF4-FFF2-40B4-BE49-F238E27FC236}">
                <a16:creationId xmlns:a16="http://schemas.microsoft.com/office/drawing/2014/main" id="{E3D18169-1230-4979-9BE5-615C53E88A4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957810" y="5696408"/>
            <a:ext cx="1234190" cy="116159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07148803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31136" y="245164"/>
            <a:ext cx="7729728" cy="1188720"/>
          </a:xfrm>
          <a:solidFill>
            <a:schemeClr val="tx2">
              <a:lumMod val="20000"/>
              <a:lumOff val="80000"/>
            </a:schemeClr>
          </a:solidFill>
        </p:spPr>
        <p:txBody>
          <a:bodyPr>
            <a:normAutofit fontScale="90000"/>
          </a:bodyPr>
          <a:lstStyle/>
          <a:p>
            <a:r>
              <a:rPr lang="en-ZA" dirty="0"/>
              <a:t>Variables: important variables selected for further investigation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29587" y="1948721"/>
            <a:ext cx="9331277" cy="4362138"/>
          </a:xfrm>
        </p:spPr>
        <p:txBody>
          <a:bodyPr>
            <a:normAutofit fontScale="92500" lnSpcReduction="20000"/>
          </a:bodyPr>
          <a:lstStyle/>
          <a:p>
            <a:pPr marL="0" indent="0">
              <a:buNone/>
            </a:pPr>
            <a:r>
              <a:rPr lang="en-ZA" b="1" dirty="0"/>
              <a:t>Target Variable:</a:t>
            </a:r>
            <a:endParaRPr lang="en-ZA" dirty="0"/>
          </a:p>
          <a:p>
            <a:pPr>
              <a:buClrTx/>
            </a:pPr>
            <a:r>
              <a:rPr lang="en-ZA" dirty="0" err="1"/>
              <a:t>Payment_Duration</a:t>
            </a:r>
            <a:r>
              <a:rPr lang="en-ZA" dirty="0"/>
              <a:t> (days)</a:t>
            </a:r>
          </a:p>
          <a:p>
            <a:endParaRPr lang="en-ZA" dirty="0"/>
          </a:p>
          <a:p>
            <a:pPr marL="0" indent="0">
              <a:buNone/>
            </a:pPr>
            <a:r>
              <a:rPr lang="en-ZA" b="1" dirty="0"/>
              <a:t>Key Predictors:</a:t>
            </a:r>
            <a:endParaRPr lang="en-ZA" dirty="0"/>
          </a:p>
          <a:p>
            <a:pPr>
              <a:buClrTx/>
            </a:pPr>
            <a:r>
              <a:rPr lang="en-ZA" dirty="0"/>
              <a:t>Total Cashflow</a:t>
            </a:r>
          </a:p>
          <a:p>
            <a:pPr>
              <a:buClrTx/>
            </a:pPr>
            <a:r>
              <a:rPr lang="en-ZA" dirty="0"/>
              <a:t>Total Turnover</a:t>
            </a:r>
          </a:p>
          <a:p>
            <a:pPr>
              <a:buClrTx/>
            </a:pPr>
            <a:r>
              <a:rPr lang="en-ZA" dirty="0"/>
              <a:t>Patient Age</a:t>
            </a:r>
          </a:p>
          <a:p>
            <a:pPr>
              <a:buClrTx/>
            </a:pPr>
            <a:r>
              <a:rPr lang="en-ZA" dirty="0"/>
              <a:t>Contract Status</a:t>
            </a:r>
          </a:p>
          <a:p>
            <a:pPr>
              <a:buClrTx/>
            </a:pPr>
            <a:r>
              <a:rPr lang="en-ZA" dirty="0"/>
              <a:t>PMB Status</a:t>
            </a:r>
          </a:p>
          <a:p>
            <a:pPr>
              <a:buClrTx/>
            </a:pPr>
            <a:r>
              <a:rPr lang="en-ZA" dirty="0"/>
              <a:t>Debtor Financial Standing</a:t>
            </a:r>
          </a:p>
          <a:p>
            <a:pPr>
              <a:buClrTx/>
            </a:pPr>
            <a:r>
              <a:rPr lang="en-ZA" dirty="0"/>
              <a:t>Medical Specialty</a:t>
            </a:r>
          </a:p>
          <a:p>
            <a:pPr>
              <a:buClrTx/>
            </a:pPr>
            <a:endParaRPr lang="en-ZA" dirty="0"/>
          </a:p>
          <a:p>
            <a:pPr>
              <a:buClrTx/>
            </a:pPr>
            <a:r>
              <a:rPr lang="en-ZA" dirty="0"/>
              <a:t>Other variables such as service centre, diagnosis code, and medical aid option had less influence.</a:t>
            </a:r>
          </a:p>
        </p:txBody>
      </p:sp>
      <p:pic>
        <p:nvPicPr>
          <p:cNvPr id="4" name="Picture 2" descr="Home | UWC">
            <a:extLst>
              <a:ext uri="{FF2B5EF4-FFF2-40B4-BE49-F238E27FC236}">
                <a16:creationId xmlns:a16="http://schemas.microsoft.com/office/drawing/2014/main" id="{DC3F82E6-76AB-4E4D-8C4A-57E84F7623A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957810" y="5696408"/>
            <a:ext cx="1234190" cy="116159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49962877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31136" y="215184"/>
            <a:ext cx="7729728" cy="1188720"/>
          </a:xfrm>
          <a:solidFill>
            <a:schemeClr val="tx2">
              <a:lumMod val="20000"/>
              <a:lumOff val="80000"/>
            </a:schemeClr>
          </a:solidFill>
        </p:spPr>
        <p:txBody>
          <a:bodyPr/>
          <a:lstStyle/>
          <a:p>
            <a:r>
              <a:rPr lang="en-ZA" dirty="0"/>
              <a:t>Model training and testing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99607" y="1978702"/>
            <a:ext cx="9166385" cy="3176709"/>
          </a:xfrm>
        </p:spPr>
        <p:txBody>
          <a:bodyPr/>
          <a:lstStyle/>
          <a:p>
            <a:pPr marL="0" indent="0">
              <a:buNone/>
            </a:pPr>
            <a:r>
              <a:rPr lang="en-ZA" b="1" dirty="0"/>
              <a:t>Model Comparison:</a:t>
            </a:r>
          </a:p>
          <a:p>
            <a:pPr>
              <a:buClrTx/>
            </a:pPr>
            <a:r>
              <a:rPr lang="en-ZA" dirty="0"/>
              <a:t>Random Forest: Best (MAE=4.96, R²=0.189)</a:t>
            </a:r>
          </a:p>
          <a:p>
            <a:pPr>
              <a:buClrTx/>
            </a:pPr>
            <a:r>
              <a:rPr lang="en-ZA" dirty="0"/>
              <a:t>Gradient Boosting: Second-best</a:t>
            </a:r>
          </a:p>
          <a:p>
            <a:pPr>
              <a:buClrTx/>
            </a:pPr>
            <a:r>
              <a:rPr lang="en-ZA" dirty="0"/>
              <a:t>Linear &amp; Lasso: Low predictive power</a:t>
            </a:r>
          </a:p>
          <a:p>
            <a:pPr>
              <a:buClrTx/>
            </a:pPr>
            <a:r>
              <a:rPr lang="en-ZA" dirty="0"/>
              <a:t>Decision Tree: Overfitting with negative R²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58B9CEE0-BF05-4271-A0A0-FF3242B2BC9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69307" y="1978702"/>
            <a:ext cx="5723086" cy="2788170"/>
          </a:xfrm>
          <a:prstGeom prst="rect">
            <a:avLst/>
          </a:prstGeom>
        </p:spPr>
      </p:pic>
      <p:pic>
        <p:nvPicPr>
          <p:cNvPr id="5" name="Picture 2" descr="Home | UWC">
            <a:extLst>
              <a:ext uri="{FF2B5EF4-FFF2-40B4-BE49-F238E27FC236}">
                <a16:creationId xmlns:a16="http://schemas.microsoft.com/office/drawing/2014/main" id="{E65144F5-EB7B-436E-9A0B-DF68B4F6DB7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957810" y="5696408"/>
            <a:ext cx="1234190" cy="116159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96844495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616538" y="230175"/>
            <a:ext cx="9431213" cy="624265"/>
          </a:xfrm>
          <a:solidFill>
            <a:schemeClr val="tx2">
              <a:lumMod val="20000"/>
              <a:lumOff val="80000"/>
            </a:schemeClr>
          </a:solidFill>
        </p:spPr>
        <p:txBody>
          <a:bodyPr>
            <a:normAutofit fontScale="90000"/>
          </a:bodyPr>
          <a:lstStyle/>
          <a:p>
            <a:r>
              <a:rPr lang="en-ZA" dirty="0"/>
              <a:t>Visualization / BI / “Intelligent views of data”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501C6F30-8FDC-45FD-993E-EC53F078CBA4}"/>
              </a:ext>
            </a:extLst>
          </p:cNvPr>
          <p:cNvPicPr/>
          <p:nvPr/>
        </p:nvPicPr>
        <p:blipFill>
          <a:blip r:embed="rId3"/>
          <a:stretch>
            <a:fillRect/>
          </a:stretch>
        </p:blipFill>
        <p:spPr>
          <a:xfrm>
            <a:off x="1978702" y="1240436"/>
            <a:ext cx="8454453" cy="4395866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A2E66B60-07FE-4381-8D76-B146EAFA5C26}"/>
              </a:ext>
            </a:extLst>
          </p:cNvPr>
          <p:cNvSpPr txBox="1"/>
          <p:nvPr/>
        </p:nvSpPr>
        <p:spPr>
          <a:xfrm>
            <a:off x="1184223" y="5756223"/>
            <a:ext cx="9773587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ZA" dirty="0"/>
              <a:t>Most transactions fall between 5 and 10 days, with a big peak showing that day 8 is when payment is most often made. Payments posted further beyond the first 10 days decline slowly, ending up in a long line that stretches to outlier situations where transactions took over 50 days</a:t>
            </a:r>
          </a:p>
        </p:txBody>
      </p:sp>
      <p:pic>
        <p:nvPicPr>
          <p:cNvPr id="8" name="Picture 2" descr="Home | UWC">
            <a:extLst>
              <a:ext uri="{FF2B5EF4-FFF2-40B4-BE49-F238E27FC236}">
                <a16:creationId xmlns:a16="http://schemas.microsoft.com/office/drawing/2014/main" id="{0EB3600D-AC23-4FCA-BE7D-E91150DA481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957810" y="5696408"/>
            <a:ext cx="1234190" cy="116159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49760099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A223C5DF-7D30-4015-AFD3-59F56A1A9FAF}"/>
              </a:ext>
            </a:extLst>
          </p:cNvPr>
          <p:cNvPicPr/>
          <p:nvPr/>
        </p:nvPicPr>
        <p:blipFill>
          <a:blip r:embed="rId3"/>
          <a:stretch>
            <a:fillRect/>
          </a:stretch>
        </p:blipFill>
        <p:spPr>
          <a:xfrm>
            <a:off x="1049310" y="387671"/>
            <a:ext cx="9998441" cy="5503463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629A8D4F-1951-4171-BC53-39CE579E740D}"/>
              </a:ext>
            </a:extLst>
          </p:cNvPr>
          <p:cNvSpPr txBox="1"/>
          <p:nvPr/>
        </p:nvSpPr>
        <p:spPr>
          <a:xfrm>
            <a:off x="1616538" y="6100997"/>
            <a:ext cx="943121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ZA" dirty="0"/>
              <a:t>Top factors include financial variables and administrative status</a:t>
            </a:r>
          </a:p>
        </p:txBody>
      </p:sp>
      <p:pic>
        <p:nvPicPr>
          <p:cNvPr id="9" name="Picture 2" descr="Home | UWC">
            <a:extLst>
              <a:ext uri="{FF2B5EF4-FFF2-40B4-BE49-F238E27FC236}">
                <a16:creationId xmlns:a16="http://schemas.microsoft.com/office/drawing/2014/main" id="{4AF7BADE-2C6F-48C4-95E3-43A1AAFB606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957810" y="5696408"/>
            <a:ext cx="1234190" cy="116159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74977590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50FF9812-8D95-4B2E-8177-3EB008C15108}"/>
              </a:ext>
            </a:extLst>
          </p:cNvPr>
          <p:cNvPicPr/>
          <p:nvPr/>
        </p:nvPicPr>
        <p:blipFill>
          <a:blip r:embed="rId3"/>
          <a:stretch>
            <a:fillRect/>
          </a:stretch>
        </p:blipFill>
        <p:spPr>
          <a:xfrm>
            <a:off x="1434059" y="148466"/>
            <a:ext cx="9323882" cy="5786204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51A86629-5F15-4A53-8B42-539DAE812F90}"/>
              </a:ext>
            </a:extLst>
          </p:cNvPr>
          <p:cNvSpPr txBox="1"/>
          <p:nvPr/>
        </p:nvSpPr>
        <p:spPr>
          <a:xfrm>
            <a:off x="1434058" y="5934670"/>
            <a:ext cx="9323883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ZA" dirty="0"/>
              <a:t>The dashboard reveals a significant gap between actual and predicted payment durations: 47.28 days vs. 11.37 days, highlighting the impact of outliers and the importance of high-quality data for reliable modelling.</a:t>
            </a:r>
          </a:p>
        </p:txBody>
      </p:sp>
      <p:pic>
        <p:nvPicPr>
          <p:cNvPr id="7" name="Picture 2" descr="Home | UWC">
            <a:extLst>
              <a:ext uri="{FF2B5EF4-FFF2-40B4-BE49-F238E27FC236}">
                <a16:creationId xmlns:a16="http://schemas.microsoft.com/office/drawing/2014/main" id="{EDC6987F-A803-441C-8932-B3EA7168952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957810" y="5696408"/>
            <a:ext cx="1234190" cy="116159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8376554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901E4BE6-EF2D-48AD-8D58-DFAD42F3E60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98085" y="164892"/>
            <a:ext cx="9359921" cy="5846164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10C08B80-75AC-4C93-B41A-04166D587D8D}"/>
              </a:ext>
            </a:extLst>
          </p:cNvPr>
          <p:cNvSpPr txBox="1"/>
          <p:nvPr/>
        </p:nvSpPr>
        <p:spPr>
          <a:xfrm>
            <a:off x="1298084" y="6205928"/>
            <a:ext cx="9359921" cy="65207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ZA" dirty="0"/>
              <a:t>Payment delays varied widely across 721 service centres, with the model underestimating delays for outliers and overestimating for quick claims, indicating limited accuracy for extreme cases.</a:t>
            </a:r>
          </a:p>
        </p:txBody>
      </p:sp>
      <p:pic>
        <p:nvPicPr>
          <p:cNvPr id="4" name="Picture 2" descr="Home | UWC">
            <a:extLst>
              <a:ext uri="{FF2B5EF4-FFF2-40B4-BE49-F238E27FC236}">
                <a16:creationId xmlns:a16="http://schemas.microsoft.com/office/drawing/2014/main" id="{F36A1A49-7959-40A3-AA41-9A877CE43D9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957810" y="5696408"/>
            <a:ext cx="1234190" cy="116159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13969742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C5774B2A-3EB3-429C-882B-301FF579528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90024" y="134911"/>
            <a:ext cx="9211952" cy="5733209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A76072D6-FFE6-404B-96D5-1B17FD330EC3}"/>
              </a:ext>
            </a:extLst>
          </p:cNvPr>
          <p:cNvSpPr txBox="1"/>
          <p:nvPr/>
        </p:nvSpPr>
        <p:spPr>
          <a:xfrm>
            <a:off x="1309641" y="5954037"/>
            <a:ext cx="957271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ZA" dirty="0"/>
              <a:t>The model performed well for routine specialties but consistently underpredicted payment durations for complex fields like Mental Health and Paediatrics, where administrative complexity is higher.</a:t>
            </a:r>
          </a:p>
        </p:txBody>
      </p:sp>
      <p:pic>
        <p:nvPicPr>
          <p:cNvPr id="8" name="Picture 2" descr="Home | UWC">
            <a:extLst>
              <a:ext uri="{FF2B5EF4-FFF2-40B4-BE49-F238E27FC236}">
                <a16:creationId xmlns:a16="http://schemas.microsoft.com/office/drawing/2014/main" id="{C1C7F5B3-3DF3-4309-A32F-57ADDD8C188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957810" y="5696408"/>
            <a:ext cx="1234190" cy="116159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83388635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3E55C5FE-B529-41D6-BDD8-216F9E1CB42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99016" y="114457"/>
            <a:ext cx="9062563" cy="5745927"/>
          </a:xfrm>
          <a:prstGeom prst="rect">
            <a:avLst/>
          </a:prstGeom>
        </p:spPr>
      </p:pic>
      <p:sp>
        <p:nvSpPr>
          <p:cNvPr id="8" name="Rectangle 4">
            <a:extLst>
              <a:ext uri="{FF2B5EF4-FFF2-40B4-BE49-F238E27FC236}">
                <a16:creationId xmlns:a16="http://schemas.microsoft.com/office/drawing/2014/main" id="{A6619A23-D150-4B5D-AD83-E82CA3991CFC}"/>
              </a:ext>
            </a:extLst>
          </p:cNvPr>
          <p:cNvSpPr>
            <a:spLocks noChangeArrowheads="1"/>
          </p:cNvSpPr>
          <p:nvPr/>
        </p:nvSpPr>
        <p:spPr bwMode="auto">
          <a:xfrm>
            <a:off x="1499016" y="5975041"/>
            <a:ext cx="9298900" cy="6463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Accuracy varied significantly across categories, with major underpredictions observed for claims involving poor debtor status, PMB cases, males, and non-contracted providers.</a:t>
            </a:r>
          </a:p>
        </p:txBody>
      </p:sp>
      <p:pic>
        <p:nvPicPr>
          <p:cNvPr id="10" name="Picture 2" descr="Home | UWC">
            <a:extLst>
              <a:ext uri="{FF2B5EF4-FFF2-40B4-BE49-F238E27FC236}">
                <a16:creationId xmlns:a16="http://schemas.microsoft.com/office/drawing/2014/main" id="{EA77EA31-B53C-4BC3-AFDA-63635D3582F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957810" y="5696408"/>
            <a:ext cx="1234190" cy="116159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02811776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E96933C3-2D94-4095-B586-ABB3B9C1500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05042" y="149901"/>
            <a:ext cx="9781915" cy="5278126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4F6637C4-3264-4F9E-B5C8-4D71628BD488}"/>
              </a:ext>
            </a:extLst>
          </p:cNvPr>
          <p:cNvSpPr txBox="1"/>
          <p:nvPr/>
        </p:nvSpPr>
        <p:spPr>
          <a:xfrm>
            <a:off x="1205042" y="5651292"/>
            <a:ext cx="1014251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ZA" dirty="0"/>
              <a:t>While the model captured general trends, it underestimated delays for high-value claims, suggesting that financial magnitude impacts processing time more than the model accounts for.</a:t>
            </a:r>
          </a:p>
        </p:txBody>
      </p:sp>
      <p:pic>
        <p:nvPicPr>
          <p:cNvPr id="6" name="Picture 2" descr="Home | UWC">
            <a:extLst>
              <a:ext uri="{FF2B5EF4-FFF2-40B4-BE49-F238E27FC236}">
                <a16:creationId xmlns:a16="http://schemas.microsoft.com/office/drawing/2014/main" id="{86D97CB2-9A4A-4290-916A-7ED16C324A3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957810" y="5696408"/>
            <a:ext cx="1234190" cy="116159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243506278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31136" y="320115"/>
            <a:ext cx="7729728" cy="1188720"/>
          </a:xfrm>
          <a:solidFill>
            <a:schemeClr val="tx2">
              <a:lumMod val="20000"/>
              <a:lumOff val="80000"/>
            </a:schemeClr>
          </a:solidFill>
        </p:spPr>
        <p:txBody>
          <a:bodyPr/>
          <a:lstStyle/>
          <a:p>
            <a:r>
              <a:rPr lang="en-ZA" dirty="0"/>
              <a:t>Interpretation of results</a:t>
            </a:r>
          </a:p>
        </p:txBody>
      </p:sp>
      <p:sp>
        <p:nvSpPr>
          <p:cNvPr id="5" name="Rectangle 2">
            <a:extLst>
              <a:ext uri="{FF2B5EF4-FFF2-40B4-BE49-F238E27FC236}">
                <a16:creationId xmlns:a16="http://schemas.microsoft.com/office/drawing/2014/main" id="{750FC14E-D815-4DBD-AF55-B235B0F63613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584616" y="1884194"/>
            <a:ext cx="10777928" cy="336502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Overall Trend: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Most claims are paid promptly, but some experience significant delays.</a:t>
            </a:r>
          </a:p>
          <a:p>
            <a:pPr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PMB and Non-Contracted Claims: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These consistently show slower payment timelines.</a:t>
            </a:r>
          </a:p>
          <a:p>
            <a:pPr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Predictive Model: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The model explained approximately 19% of the variation but underperformed on complex or outlier cases.</a:t>
            </a:r>
          </a:p>
          <a:p>
            <a:pPr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Driving Factors: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Financial metrics and provider contract status were the strongest influencers.</a:t>
            </a:r>
          </a:p>
          <a:p>
            <a:pPr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Dashboard Insight: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Visualizations confirmed that the model systematically underestimated delays for PMB and non-contracted claims, highlighting the need to incorporate more detailed administrative features for improved prediction accuracy.</a:t>
            </a:r>
          </a:p>
        </p:txBody>
      </p:sp>
      <p:pic>
        <p:nvPicPr>
          <p:cNvPr id="6" name="Picture 2" descr="Home | UWC">
            <a:extLst>
              <a:ext uri="{FF2B5EF4-FFF2-40B4-BE49-F238E27FC236}">
                <a16:creationId xmlns:a16="http://schemas.microsoft.com/office/drawing/2014/main" id="{1C407617-FF3F-4AD2-A319-F0090075A4F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957810" y="5696408"/>
            <a:ext cx="1234190" cy="116159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477190945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31136" y="324288"/>
            <a:ext cx="7729728" cy="1188720"/>
          </a:xfrm>
          <a:solidFill>
            <a:schemeClr val="tx2">
              <a:lumMod val="20000"/>
              <a:lumOff val="80000"/>
            </a:schemeClr>
          </a:solidFill>
        </p:spPr>
        <p:txBody>
          <a:bodyPr/>
          <a:lstStyle/>
          <a:p>
            <a:r>
              <a:rPr lang="en-ZA" dirty="0"/>
              <a:t>Research insights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15DA3F08-F61E-49F4-AF7A-28ADEF372F6F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392242" y="2051978"/>
            <a:ext cx="11464978" cy="33675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Automating the handling of high-risk and PMB claims can help reduce delays and improve overall processing efficiency.</a:t>
            </a:r>
          </a:p>
          <a:p>
            <a:pPr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Expanding partnerships with healthcare providers may streamline claims settlement, particularly for non-contracted providers who currently face longer delays.</a:t>
            </a:r>
          </a:p>
          <a:p>
            <a:pPr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The use of interactive dashboards enables real-time identification of operational bottlenecks and supports targeted process improvements.</a:t>
            </a:r>
          </a:p>
          <a:p>
            <a:pPr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Enhancing the quality and completeness of claims data is essential to improving the predictive accuracy of the model.</a:t>
            </a:r>
          </a:p>
          <a:p>
            <a:pPr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These insights can also inform broader policy efforts, supporting claims standardization and alignment with South Africa’s upcoming National Health Insurance (NHI) framework.</a:t>
            </a:r>
          </a:p>
        </p:txBody>
      </p:sp>
      <p:pic>
        <p:nvPicPr>
          <p:cNvPr id="5" name="Picture 2" descr="Home | UWC">
            <a:extLst>
              <a:ext uri="{FF2B5EF4-FFF2-40B4-BE49-F238E27FC236}">
                <a16:creationId xmlns:a16="http://schemas.microsoft.com/office/drawing/2014/main" id="{4E2D909C-AE32-4D56-9554-95C3F06230A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957810" y="5696408"/>
            <a:ext cx="1234190" cy="116159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260666603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31136" y="447880"/>
            <a:ext cx="7729728" cy="1188720"/>
          </a:xfrm>
          <a:solidFill>
            <a:schemeClr val="tx2">
              <a:lumMod val="20000"/>
              <a:lumOff val="80000"/>
            </a:schemeClr>
          </a:solidFill>
        </p:spPr>
        <p:txBody>
          <a:bodyPr/>
          <a:lstStyle/>
          <a:p>
            <a:r>
              <a:rPr lang="en-ZA" dirty="0"/>
              <a:t>Conclusion</a:t>
            </a:r>
          </a:p>
        </p:txBody>
      </p:sp>
      <p:sp>
        <p:nvSpPr>
          <p:cNvPr id="5" name="Rectangle 2">
            <a:extLst>
              <a:ext uri="{FF2B5EF4-FFF2-40B4-BE49-F238E27FC236}">
                <a16:creationId xmlns:a16="http://schemas.microsoft.com/office/drawing/2014/main" id="{DE73ED3F-5628-4EAB-9280-C5728294530A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704539" y="2036588"/>
            <a:ext cx="8701690" cy="17055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LA Health’s claims are mostly settled within two weeks, but variability remains</a:t>
            </a:r>
          </a:p>
          <a:p>
            <a:pPr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The Random Forest model outperformed others but captured only 19% of the variability</a:t>
            </a:r>
          </a:p>
          <a:p>
            <a:pPr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Financial and administrative attributes significantly impact payment timing</a:t>
            </a:r>
          </a:p>
          <a:p>
            <a:pPr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These insights can enhance claims efficiency and inform policy shifts under NHI</a:t>
            </a:r>
          </a:p>
        </p:txBody>
      </p:sp>
      <p:pic>
        <p:nvPicPr>
          <p:cNvPr id="6" name="Picture 2" descr="Home | UWC">
            <a:extLst>
              <a:ext uri="{FF2B5EF4-FFF2-40B4-BE49-F238E27FC236}">
                <a16:creationId xmlns:a16="http://schemas.microsoft.com/office/drawing/2014/main" id="{05452012-D5A2-447E-B6C8-85A061046D1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957810" y="5696408"/>
            <a:ext cx="1234190" cy="116159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890364524"/>
      </p:ext>
    </p:extLst>
  </p:cSld>
  <p:clrMapOvr>
    <a:masterClrMapping/>
  </p:clrMapOvr>
</p:sld>
</file>

<file path=ppt/theme/theme1.xml><?xml version="1.0" encoding="utf-8"?>
<a:theme xmlns:a="http://schemas.openxmlformats.org/drawingml/2006/main" name="Parcel">
  <a:themeElements>
    <a:clrScheme name="Parcel">
      <a:dk1>
        <a:srgbClr val="000000"/>
      </a:dk1>
      <a:lt1>
        <a:sysClr val="window" lastClr="FFFFFF"/>
      </a:lt1>
      <a:dk2>
        <a:srgbClr val="5E5E5E"/>
      </a:dk2>
      <a:lt2>
        <a:srgbClr val="DDDDDD"/>
      </a:lt2>
      <a:accent1>
        <a:srgbClr val="A6B727"/>
      </a:accent1>
      <a:accent2>
        <a:srgbClr val="418AB3"/>
      </a:accent2>
      <a:accent3>
        <a:srgbClr val="F69200"/>
      </a:accent3>
      <a:accent4>
        <a:srgbClr val="838383"/>
      </a:accent4>
      <a:accent5>
        <a:srgbClr val="FEC306"/>
      </a:accent5>
      <a:accent6>
        <a:srgbClr val="DF5327"/>
      </a:accent6>
      <a:hlink>
        <a:srgbClr val="F59E00"/>
      </a:hlink>
      <a:folHlink>
        <a:srgbClr val="B2B2B2"/>
      </a:folHlink>
    </a:clrScheme>
    <a:fontScheme name="Parcel">
      <a:majorFont>
        <a:latin typeface="Gill Sans MT" panose="020B0502020104020203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Gill Sans MT" panose="020B0502020104020203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Parcel">
      <a:fillStyleLst>
        <a:solidFill>
          <a:schemeClr val="phClr"/>
        </a:solidFill>
        <a:gradFill rotWithShape="1">
          <a:gsLst>
            <a:gs pos="0">
              <a:schemeClr val="phClr">
                <a:tint val="80000"/>
                <a:satMod val="107000"/>
                <a:lumMod val="103000"/>
              </a:schemeClr>
            </a:gs>
            <a:gs pos="100000">
              <a:schemeClr val="phClr">
                <a:tint val="82000"/>
                <a:satMod val="109000"/>
                <a:lumMod val="103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7000"/>
                <a:satMod val="100000"/>
                <a:lumMod val="102000"/>
              </a:schemeClr>
            </a:gs>
            <a:gs pos="50000">
              <a:schemeClr val="phClr">
                <a:shade val="100000"/>
                <a:satMod val="103000"/>
                <a:lumMod val="100000"/>
              </a:schemeClr>
            </a:gs>
            <a:gs pos="100000">
              <a:schemeClr val="phClr">
                <a:shade val="93000"/>
                <a:satMod val="110000"/>
                <a:lumMod val="99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317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5880" dist="15240" dir="5400000" algn="ctr" rotWithShape="0">
              <a:srgbClr val="000000">
                <a:alpha val="45000"/>
              </a:srgbClr>
            </a:outerShdw>
          </a:effectLst>
          <a:scene3d>
            <a:camera prst="orthographicFront">
              <a:rot lat="0" lon="0" rev="0"/>
            </a:camera>
            <a:lightRig rig="brightRoom" dir="tl"/>
          </a:scene3d>
          <a:sp3d prstMaterial="dkEdge">
            <a:bevelT w="0" h="0"/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7000"/>
                <a:shade val="100000"/>
                <a:satMod val="185000"/>
                <a:lumMod val="120000"/>
              </a:schemeClr>
            </a:gs>
            <a:gs pos="100000">
              <a:schemeClr val="phClr">
                <a:tint val="96000"/>
                <a:shade val="95000"/>
                <a:satMod val="215000"/>
                <a:lumMod val="80000"/>
              </a:schemeClr>
            </a:gs>
          </a:gsLst>
          <a:path path="circle">
            <a:fillToRect l="50000" t="55000" r="125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arcel" id="{8BEC4385-4EB9-4D53-BFB5-0EA123736B6D}" vid="{A425FB89-E954-4A2A-81DC-D90804A94DB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Gallery</Template>
  <TotalTime>204</TotalTime>
  <Words>1215</Words>
  <Application>Microsoft Office PowerPoint</Application>
  <PresentationFormat>Widescreen</PresentationFormat>
  <Paragraphs>121</Paragraphs>
  <Slides>19</Slides>
  <Notes>19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3" baseType="lpstr">
      <vt:lpstr>Arial</vt:lpstr>
      <vt:lpstr>Calibri</vt:lpstr>
      <vt:lpstr>Gill Sans MT</vt:lpstr>
      <vt:lpstr>Parcel</vt:lpstr>
      <vt:lpstr>Predictive Analysis of Medical Insurance Payment Durations in South Africa: A Case of LA Health</vt:lpstr>
      <vt:lpstr>AGENDA</vt:lpstr>
      <vt:lpstr>Business question and research objectives</vt:lpstr>
      <vt:lpstr>Introduction to business problem</vt:lpstr>
      <vt:lpstr>Literature review / existing solutions</vt:lpstr>
      <vt:lpstr>Research methodology</vt:lpstr>
      <vt:lpstr>Data: the data that I used explained</vt:lpstr>
      <vt:lpstr>Variables: important variables selected for further investigation</vt:lpstr>
      <vt:lpstr>Model training and testing</vt:lpstr>
      <vt:lpstr>Visualization / BI / “Intelligent views of data”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Interpretation of results</vt:lpstr>
      <vt:lpstr>Research insights</vt:lpstr>
      <vt:lpstr>Conclusion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Johan</dc:creator>
  <cp:lastModifiedBy>Yolisa  Velebayi</cp:lastModifiedBy>
  <cp:revision>19</cp:revision>
  <dcterms:created xsi:type="dcterms:W3CDTF">2020-05-18T14:24:58Z</dcterms:created>
  <dcterms:modified xsi:type="dcterms:W3CDTF">2025-06-05T19:49:56Z</dcterms:modified>
</cp:coreProperties>
</file>